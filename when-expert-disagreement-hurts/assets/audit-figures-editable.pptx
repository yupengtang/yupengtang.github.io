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14630400" cy="66751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MAIN-TEXT FIGURE. Based on the uploaded camera-ready Sections 3–5 and Figure 1. One initial answer is generated per item/model and reused across A0/A1/A3. A0 has no opposing source; A1 and A3 carry the same opposite answer. M denotes the same evaluated model in Pass 1 and each separate Pass-2 call, not an ensemble or conversation among three independently acting models. r_k denotes reversal probability; the G and P contrasts must be computed on their relevant paired valid-item intersections. Accuracy uses the same within-condition valid items for Pass 1 and Pass 2. Source descriptions are schematic, not verbatim complete prompts. Historical main-audit prompts include reconsideration framing, answer contract and length-matching filler; this figure does NOT claim the historical full prompts differ only in source labels. The no-padding rationale control is a distinct experiment. Generated rationales and teacher-forced diagnostics are shown on slide 2. No newly proposed experiment or new result is presented here.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EXTENDED / APPENDIX FIGURE. This companion retains logged generated rationales R1/R2 and the auxiliary teacher-forced Yes/No scores, while keeping them off the primary figure. R1 is not included in Pass 2. R2 is logged after generation; neither rationale is treated as a latent-belief measurement. Teacher-forced scores are obtained using the corresponding Pass-1/Pass-2 prompt, with token aggregation as specified in Appendix D of the uploaded paper. The score itself does not control generation. Displayed source names are schematic condition labels and do not replace the full prompt registry. The historical main protocol contains active length-matching filler. P is a reversal contrast, not a claim of incremental accuracy harm from expert labels. No new result is added. All visual elements are editable native PowerPoint objects, including icon paths, connectors, labels and equations.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A | Shared initial state"/>
          <p:cNvGrpSpPr/>
          <p:nvPr/>
        </p:nvGrpSpPr>
        <p:grpSpPr>
          <a:xfrm>
            <a:off x="164592" y="155448"/>
            <a:ext cx="3246119" cy="5175504"/>
            <a:chOff x="164592" y="155448"/>
            <a:chExt cx="3246119" cy="5175504"/>
          </a:xfrm>
        </p:grpSpPr>
        <p:sp>
          <p:nvSpPr>
            <p:cNvPr id="7" name="A/Header/Letter"/>
            <p:cNvSpPr txBox="1"/>
            <p:nvPr/>
          </p:nvSpPr>
          <p:spPr>
            <a:xfrm>
              <a:off x="164592"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a</a:t>
              </a:r>
            </a:p>
          </p:txBody>
        </p:sp>
        <p:sp>
          <p:nvSpPr>
            <p:cNvPr id="8" name="A/Header/Title"/>
            <p:cNvSpPr txBox="1"/>
            <p:nvPr/>
          </p:nvSpPr>
          <p:spPr>
            <a:xfrm>
              <a:off x="557784" y="155448"/>
              <a:ext cx="2852927"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Shared initial state</a:t>
              </a:r>
            </a:p>
          </p:txBody>
        </p:sp>
        <p:sp>
          <p:nvSpPr>
            <p:cNvPr id="13" name="A/Panel"/>
            <p:cNvSpPr/>
            <p:nvPr/>
          </p:nvSpPr>
          <p:spPr>
            <a:xfrm>
              <a:off x="164592" y="832104"/>
              <a:ext cx="2825496" cy="4498848"/>
            </a:xfrm>
            <a:prstGeom prst="roundRect">
              <a:avLst>
                <a:gd name="adj" fmla="val 3883"/>
              </a:avLst>
            </a:prstGeom>
            <a:solidFill>
              <a:srgbClr val="F7F9FA"/>
            </a:solidFill>
            <a:ln w="12700">
              <a:solidFill>
                <a:srgbClr val="B9C6CF"/>
              </a:solidFill>
            </a:ln>
            <a:effectLst/>
          </p:spPr>
          <p:txBody>
            <a:bodyPr rtlCol="0" anchor="ctr"/>
            <a:lstStyle/>
            <a:p>
              <a:pPr algn="ctr"/>
            </a:p>
          </p:txBody>
        </p:sp>
        <p:sp>
          <p:nvSpPr>
            <p:cNvPr id="14" name="A/Benchmark/Back2"/>
            <p:cNvSpPr/>
            <p:nvPr/>
          </p:nvSpPr>
          <p:spPr>
            <a:xfrm>
              <a:off x="429768" y="978408"/>
              <a:ext cx="2313432" cy="1517904"/>
            </a:xfrm>
            <a:prstGeom prst="roundRect">
              <a:avLst>
                <a:gd name="adj" fmla="val 3915"/>
              </a:avLst>
            </a:prstGeom>
            <a:solidFill>
              <a:srgbClr val="FFFFFF"/>
            </a:solidFill>
            <a:ln w="10160">
              <a:solidFill>
                <a:srgbClr val="B9C6CF"/>
              </a:solidFill>
            </a:ln>
            <a:effectLst/>
          </p:spPr>
          <p:txBody>
            <a:bodyPr rtlCol="0" anchor="ctr"/>
            <a:lstStyle/>
            <a:p>
              <a:pPr algn="ctr"/>
            </a:p>
          </p:txBody>
        </p:sp>
        <p:sp>
          <p:nvSpPr>
            <p:cNvPr id="15" name="A/Benchmark/Back1"/>
            <p:cNvSpPr/>
            <p:nvPr/>
          </p:nvSpPr>
          <p:spPr>
            <a:xfrm>
              <a:off x="374904" y="1033271"/>
              <a:ext cx="2313432" cy="1517904"/>
            </a:xfrm>
            <a:prstGeom prst="roundRect">
              <a:avLst>
                <a:gd name="adj" fmla="val 3915"/>
              </a:avLst>
            </a:prstGeom>
            <a:solidFill>
              <a:srgbClr val="FFFFFF"/>
            </a:solidFill>
            <a:ln w="10160">
              <a:solidFill>
                <a:srgbClr val="B9C6CF"/>
              </a:solidFill>
            </a:ln>
            <a:effectLst/>
          </p:spPr>
          <p:txBody>
            <a:bodyPr rtlCol="0" anchor="ctr"/>
            <a:lstStyle/>
            <a:p>
              <a:pPr algn="ctr"/>
            </a:p>
          </p:txBody>
        </p:sp>
        <p:sp>
          <p:nvSpPr>
            <p:cNvPr id="16" name="A/Benchmark/Front"/>
            <p:cNvSpPr/>
            <p:nvPr/>
          </p:nvSpPr>
          <p:spPr>
            <a:xfrm>
              <a:off x="320040" y="1088136"/>
              <a:ext cx="2496312" cy="1554480"/>
            </a:xfrm>
            <a:prstGeom prst="roundRect">
              <a:avLst>
                <a:gd name="adj" fmla="val 3823"/>
              </a:avLst>
            </a:prstGeom>
            <a:solidFill>
              <a:srgbClr val="FFFFFF"/>
            </a:solidFill>
            <a:ln w="14604">
              <a:solidFill>
                <a:srgbClr val="86ACCF"/>
              </a:solidFill>
            </a:ln>
            <a:effectLst/>
          </p:spPr>
          <p:txBody>
            <a:bodyPr rtlCol="0" anchor="ctr"/>
            <a:lstStyle/>
            <a:p>
              <a:pPr algn="ctr"/>
            </a:p>
          </p:txBody>
        </p:sp>
        <p:sp>
          <p:nvSpPr>
            <p:cNvPr id="17" name="A/Benchmark/Count"/>
            <p:cNvSpPr txBox="1"/>
            <p:nvPr/>
          </p:nvSpPr>
          <p:spPr>
            <a:xfrm>
              <a:off x="356616" y="1207008"/>
              <a:ext cx="2423160" cy="347472"/>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203346"/>
                  </a:solidFill>
                  <a:latin typeface="Arial"/>
                  <a:ea typeface="Arial"/>
                  <a:cs typeface="Arial"/>
                </a:rPr>
                <a:t>1,989 binary items</a:t>
              </a:r>
            </a:p>
          </p:txBody>
        </p:sp>
        <p:grpSp>
          <p:nvGrpSpPr>
            <p:cNvPr id="18" name="A/Benchmark/Medicine/Icon"/>
            <p:cNvGrpSpPr/>
            <p:nvPr/>
          </p:nvGrpSpPr>
          <p:grpSpPr>
            <a:xfrm>
              <a:off x="457200" y="1682496"/>
              <a:ext cx="219456" cy="219456"/>
              <a:chOff x="457200" y="1682496"/>
              <a:chExt cx="219456" cy="219456"/>
            </a:xfrm>
          </p:grpSpPr>
          <p:sp>
            <p:nvSpPr>
              <p:cNvPr id="19" name="Medicine/Outline"/>
              <p:cNvSpPr/>
              <p:nvPr/>
            </p:nvSpPr>
            <p:spPr>
              <a:xfrm>
                <a:off x="457200" y="1682496"/>
                <a:ext cx="219456" cy="219456"/>
              </a:xfrm>
              <a:prstGeom prst="ellipse">
                <a:avLst/>
              </a:prstGeom>
              <a:noFill/>
              <a:ln w="13335">
                <a:solidFill>
                  <a:srgbClr val="187D70"/>
                </a:solidFill>
              </a:ln>
              <a:effectLst/>
            </p:spPr>
            <p:txBody>
              <a:bodyPr rtlCol="0" anchor="ctr"/>
              <a:lstStyle/>
              <a:p>
                <a:pPr algn="ctr"/>
              </a:p>
            </p:txBody>
          </p:sp>
          <p:cxnSp>
            <p:nvCxnSpPr>
              <p:cNvPr id="20" name="Medicine/PlusH"/>
              <p:cNvCxnSpPr/>
              <p:nvPr/>
            </p:nvCxnSpPr>
            <p:spPr>
              <a:xfrm>
                <a:off x="502920" y="1792224"/>
                <a:ext cx="128016" cy="0"/>
              </a:xfrm>
              <a:prstGeom prst="line">
                <a:avLst/>
              </a:prstGeom>
              <a:ln w="17780" cap="rnd">
                <a:solidFill>
                  <a:srgbClr val="187D70"/>
                </a:solidFill>
              </a:ln>
            </p:spPr>
          </p:cxnSp>
          <p:cxnSp>
            <p:nvCxnSpPr>
              <p:cNvPr id="21" name="Medicine/PlusV"/>
              <p:cNvCxnSpPr/>
              <p:nvPr/>
            </p:nvCxnSpPr>
            <p:spPr>
              <a:xfrm>
                <a:off x="566928" y="1728216"/>
                <a:ext cx="0" cy="128016"/>
              </a:xfrm>
              <a:prstGeom prst="line">
                <a:avLst/>
              </a:prstGeom>
              <a:ln w="17780" cap="rnd">
                <a:solidFill>
                  <a:srgbClr val="187D70"/>
                </a:solidFill>
              </a:ln>
            </p:spPr>
          </p:cxnSp>
        </p:grpSp>
        <p:sp>
          <p:nvSpPr>
            <p:cNvPr id="22" name="A/Benchmark/Medicine/Text"/>
            <p:cNvSpPr txBox="1"/>
            <p:nvPr/>
          </p:nvSpPr>
          <p:spPr>
            <a:xfrm>
              <a:off x="813816" y="1659636"/>
              <a:ext cx="1828800" cy="265176"/>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PubMedQA</a:t>
              </a:r>
            </a:p>
          </p:txBody>
        </p:sp>
        <p:grpSp>
          <p:nvGrpSpPr>
            <p:cNvPr id="23" name="A/Benchmark/Science/Icon"/>
            <p:cNvGrpSpPr/>
            <p:nvPr/>
          </p:nvGrpSpPr>
          <p:grpSpPr>
            <a:xfrm>
              <a:off x="461772" y="1970531"/>
              <a:ext cx="237744" cy="219457"/>
              <a:chOff x="461772" y="1970531"/>
              <a:chExt cx="237744" cy="219457"/>
            </a:xfrm>
          </p:grpSpPr>
          <p:cxnSp>
            <p:nvCxnSpPr>
              <p:cNvPr id="24" name="Science/Edge0"/>
              <p:cNvCxnSpPr/>
              <p:nvPr/>
            </p:nvCxnSpPr>
            <p:spPr>
              <a:xfrm flipV="1">
                <a:off x="493776" y="2002536"/>
                <a:ext cx="82296" cy="155448"/>
              </a:xfrm>
              <a:prstGeom prst="line">
                <a:avLst/>
              </a:prstGeom>
              <a:ln w="11430" cap="rnd">
                <a:solidFill>
                  <a:srgbClr val="2768A5"/>
                </a:solidFill>
              </a:ln>
            </p:spPr>
          </p:cxnSp>
          <p:cxnSp>
            <p:nvCxnSpPr>
              <p:cNvPr id="25" name="Science/Edge1"/>
              <p:cNvCxnSpPr/>
              <p:nvPr/>
            </p:nvCxnSpPr>
            <p:spPr>
              <a:xfrm>
                <a:off x="576072" y="2002536"/>
                <a:ext cx="91440" cy="146304"/>
              </a:xfrm>
              <a:prstGeom prst="line">
                <a:avLst/>
              </a:prstGeom>
              <a:ln w="11430" cap="rnd">
                <a:solidFill>
                  <a:srgbClr val="2768A5"/>
                </a:solidFill>
              </a:ln>
            </p:spPr>
          </p:cxnSp>
          <p:cxnSp>
            <p:nvCxnSpPr>
              <p:cNvPr id="26" name="Science/Edge2"/>
              <p:cNvCxnSpPr/>
              <p:nvPr/>
            </p:nvCxnSpPr>
            <p:spPr>
              <a:xfrm flipV="1">
                <a:off x="493776" y="2148840"/>
                <a:ext cx="173736" cy="9144"/>
              </a:xfrm>
              <a:prstGeom prst="line">
                <a:avLst/>
              </a:prstGeom>
              <a:ln w="11430" cap="rnd">
                <a:solidFill>
                  <a:srgbClr val="2768A5"/>
                </a:solidFill>
              </a:ln>
            </p:spPr>
          </p:cxnSp>
          <p:sp>
            <p:nvSpPr>
              <p:cNvPr id="27" name="Science/Node0"/>
              <p:cNvSpPr/>
              <p:nvPr/>
            </p:nvSpPr>
            <p:spPr>
              <a:xfrm>
                <a:off x="461772" y="2125980"/>
                <a:ext cx="64008" cy="64008"/>
              </a:xfrm>
              <a:prstGeom prst="ellipse">
                <a:avLst/>
              </a:prstGeom>
              <a:solidFill>
                <a:srgbClr val="FFFFFF"/>
              </a:solidFill>
              <a:ln w="13335">
                <a:solidFill>
                  <a:srgbClr val="2768A5"/>
                </a:solidFill>
              </a:ln>
              <a:effectLst/>
            </p:spPr>
            <p:txBody>
              <a:bodyPr rtlCol="0" anchor="ctr"/>
              <a:lstStyle/>
              <a:p>
                <a:pPr algn="ctr"/>
              </a:p>
            </p:txBody>
          </p:sp>
          <p:sp>
            <p:nvSpPr>
              <p:cNvPr id="28" name="Science/Node1"/>
              <p:cNvSpPr/>
              <p:nvPr/>
            </p:nvSpPr>
            <p:spPr>
              <a:xfrm>
                <a:off x="544068" y="1970531"/>
                <a:ext cx="64008" cy="64008"/>
              </a:xfrm>
              <a:prstGeom prst="ellipse">
                <a:avLst/>
              </a:prstGeom>
              <a:solidFill>
                <a:srgbClr val="FFFFFF"/>
              </a:solidFill>
              <a:ln w="13335">
                <a:solidFill>
                  <a:srgbClr val="2768A5"/>
                </a:solidFill>
              </a:ln>
              <a:effectLst/>
            </p:spPr>
            <p:txBody>
              <a:bodyPr rtlCol="0" anchor="ctr"/>
              <a:lstStyle/>
              <a:p>
                <a:pPr algn="ctr"/>
              </a:p>
            </p:txBody>
          </p:sp>
          <p:sp>
            <p:nvSpPr>
              <p:cNvPr id="29" name="Science/Node2"/>
              <p:cNvSpPr/>
              <p:nvPr/>
            </p:nvSpPr>
            <p:spPr>
              <a:xfrm>
                <a:off x="635508" y="2116836"/>
                <a:ext cx="64008" cy="64008"/>
              </a:xfrm>
              <a:prstGeom prst="ellipse">
                <a:avLst/>
              </a:prstGeom>
              <a:solidFill>
                <a:srgbClr val="FFFFFF"/>
              </a:solidFill>
              <a:ln w="13335">
                <a:solidFill>
                  <a:srgbClr val="2768A5"/>
                </a:solidFill>
              </a:ln>
              <a:effectLst/>
            </p:spPr>
            <p:txBody>
              <a:bodyPr rtlCol="0" anchor="ctr"/>
              <a:lstStyle/>
              <a:p>
                <a:pPr algn="ctr"/>
              </a:p>
            </p:txBody>
          </p:sp>
        </p:grpSp>
        <p:sp>
          <p:nvSpPr>
            <p:cNvPr id="30" name="A/Benchmark/Science/Text"/>
            <p:cNvSpPr txBox="1"/>
            <p:nvPr/>
          </p:nvSpPr>
          <p:spPr>
            <a:xfrm>
              <a:off x="813816" y="1952244"/>
              <a:ext cx="1828800" cy="265176"/>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SciFact</a:t>
              </a:r>
            </a:p>
          </p:txBody>
        </p:sp>
        <p:grpSp>
          <p:nvGrpSpPr>
            <p:cNvPr id="31" name="A/Benchmark/Law/Icon"/>
            <p:cNvGrpSpPr/>
            <p:nvPr/>
          </p:nvGrpSpPr>
          <p:grpSpPr>
            <a:xfrm>
              <a:off x="448056" y="2258568"/>
              <a:ext cx="237744" cy="228600"/>
              <a:chOff x="448056" y="2258568"/>
              <a:chExt cx="237744" cy="228600"/>
            </a:xfrm>
          </p:grpSpPr>
          <p:cxnSp>
            <p:nvCxnSpPr>
              <p:cNvPr id="32" name="Law/Stand"/>
              <p:cNvCxnSpPr/>
              <p:nvPr/>
            </p:nvCxnSpPr>
            <p:spPr>
              <a:xfrm>
                <a:off x="566928" y="2258568"/>
                <a:ext cx="0" cy="228600"/>
              </a:xfrm>
              <a:prstGeom prst="line">
                <a:avLst/>
              </a:prstGeom>
              <a:ln w="13970" cap="rnd">
                <a:solidFill>
                  <a:srgbClr val="72618C"/>
                </a:solidFill>
              </a:ln>
            </p:spPr>
          </p:cxnSp>
          <p:cxnSp>
            <p:nvCxnSpPr>
              <p:cNvPr id="33" name="Law/Beam"/>
              <p:cNvCxnSpPr/>
              <p:nvPr/>
            </p:nvCxnSpPr>
            <p:spPr>
              <a:xfrm>
                <a:off x="448056" y="2318004"/>
                <a:ext cx="237744" cy="0"/>
              </a:xfrm>
              <a:prstGeom prst="line">
                <a:avLst/>
              </a:prstGeom>
              <a:ln w="13970" cap="rnd">
                <a:solidFill>
                  <a:srgbClr val="72618C"/>
                </a:solidFill>
              </a:ln>
            </p:spPr>
          </p:cxnSp>
          <p:cxnSp>
            <p:nvCxnSpPr>
              <p:cNvPr id="34" name="Law/Base"/>
              <p:cNvCxnSpPr/>
              <p:nvPr/>
            </p:nvCxnSpPr>
            <p:spPr>
              <a:xfrm>
                <a:off x="502920" y="2487168"/>
                <a:ext cx="128016" cy="0"/>
              </a:xfrm>
              <a:prstGeom prst="line">
                <a:avLst/>
              </a:prstGeom>
              <a:ln w="13970" cap="rnd">
                <a:solidFill>
                  <a:srgbClr val="72618C"/>
                </a:solidFill>
              </a:ln>
            </p:spPr>
          </p:cxnSp>
          <p:sp>
            <p:nvSpPr>
              <p:cNvPr id="35" name="Law/Pan0"/>
              <p:cNvSpPr/>
              <p:nvPr/>
            </p:nvSpPr>
            <p:spPr>
              <a:xfrm>
                <a:off x="406908" y="2318004"/>
                <a:ext cx="118872" cy="114300"/>
              </a:xfrm>
              <a:custGeom>
                <a:avLst/>
                <a:gdLst/>
                <a:ahLst/>
                <a:cxnLst/>
                <a:rect l="l" t="t" r="r" b="b"/>
                <a:pathLst>
                  <a:path w="118872" h="114300">
                    <a:moveTo>
                      <a:pt x="59436" y="0"/>
                    </a:moveTo>
                    <a:lnTo>
                      <a:pt x="0" y="114300"/>
                    </a:lnTo>
                    <a:lnTo>
                      <a:pt x="118872" y="114300"/>
                    </a:lnTo>
                    <a:lnTo>
                      <a:pt x="59436" y="0"/>
                    </a:lnTo>
                  </a:path>
                </a:pathLst>
              </a:custGeom>
              <a:noFill/>
              <a:ln w="10795" cap="rnd">
                <a:solidFill>
                  <a:srgbClr val="72618C"/>
                </a:solidFill>
                <a:round/>
              </a:ln>
              <a:effectLst/>
            </p:spPr>
            <p:txBody>
              <a:bodyPr rtlCol="0" anchor="ctr"/>
              <a:lstStyle/>
              <a:p>
                <a:pPr algn="ctr"/>
              </a:p>
            </p:txBody>
          </p:sp>
          <p:sp>
            <p:nvSpPr>
              <p:cNvPr id="36" name="Law/Pan1"/>
              <p:cNvSpPr/>
              <p:nvPr/>
            </p:nvSpPr>
            <p:spPr>
              <a:xfrm>
                <a:off x="608076" y="2318004"/>
                <a:ext cx="118871" cy="114300"/>
              </a:xfrm>
              <a:custGeom>
                <a:avLst/>
                <a:gdLst/>
                <a:ahLst/>
                <a:cxnLst/>
                <a:rect l="l" t="t" r="r" b="b"/>
                <a:pathLst>
                  <a:path w="118871" h="114300">
                    <a:moveTo>
                      <a:pt x="59436" y="0"/>
                    </a:moveTo>
                    <a:lnTo>
                      <a:pt x="0" y="114300"/>
                    </a:lnTo>
                    <a:lnTo>
                      <a:pt x="118871" y="114300"/>
                    </a:lnTo>
                    <a:lnTo>
                      <a:pt x="59436" y="0"/>
                    </a:lnTo>
                  </a:path>
                </a:pathLst>
              </a:custGeom>
              <a:noFill/>
              <a:ln w="10795" cap="rnd">
                <a:solidFill>
                  <a:srgbClr val="72618C"/>
                </a:solidFill>
                <a:round/>
              </a:ln>
              <a:effectLst/>
            </p:spPr>
            <p:txBody>
              <a:bodyPr rtlCol="0" anchor="ctr"/>
              <a:lstStyle/>
              <a:p>
                <a:pPr algn="ctr"/>
              </a:p>
            </p:txBody>
          </p:sp>
        </p:grpSp>
        <p:sp>
          <p:nvSpPr>
            <p:cNvPr id="37" name="A/Benchmark/Law/Text"/>
            <p:cNvSpPr txBox="1"/>
            <p:nvPr/>
          </p:nvSpPr>
          <p:spPr>
            <a:xfrm>
              <a:off x="813816" y="2244852"/>
              <a:ext cx="1828800" cy="265176"/>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ContractNLI</a:t>
              </a:r>
            </a:p>
          </p:txBody>
        </p:sp>
        <p:sp>
          <p:nvSpPr>
            <p:cNvPr id="38" name="A/InputLabel"/>
            <p:cNvSpPr txBox="1"/>
            <p:nvPr/>
          </p:nvSpPr>
          <p:spPr>
            <a:xfrm>
              <a:off x="265176" y="2734056"/>
              <a:ext cx="2624328" cy="338328"/>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203346"/>
                  </a:solidFill>
                  <a:latin typeface="Arial"/>
                  <a:ea typeface="Arial"/>
                  <a:cs typeface="Arial"/>
                </a:rPr>
                <a:t>Question + evidence</a:t>
              </a:r>
            </a:p>
          </p:txBody>
        </p:sp>
        <p:cxnSp>
          <p:nvCxnSpPr>
            <p:cNvPr id="39" name="A/InputToModel"/>
            <p:cNvCxnSpPr/>
            <p:nvPr/>
          </p:nvCxnSpPr>
          <p:spPr>
            <a:xfrm>
              <a:off x="1581912" y="3099816"/>
              <a:ext cx="0" cy="173736"/>
            </a:xfrm>
            <a:prstGeom prst="line">
              <a:avLst/>
            </a:prstGeom>
            <a:ln w="19050" cap="rnd">
              <a:solidFill>
                <a:srgbClr val="526270"/>
              </a:solidFill>
              <a:tailEnd type="triangle" w="sm" len="sm"/>
            </a:ln>
          </p:spPr>
        </p:cxnSp>
        <p:sp>
          <p:nvSpPr>
            <p:cNvPr id="40" name="A/Pass1/Card"/>
            <p:cNvSpPr/>
            <p:nvPr/>
          </p:nvSpPr>
          <p:spPr>
            <a:xfrm>
              <a:off x="521207" y="3300984"/>
              <a:ext cx="2112264" cy="713232"/>
            </a:xfrm>
            <a:prstGeom prst="roundRect">
              <a:avLst>
                <a:gd name="adj" fmla="val 11538"/>
              </a:avLst>
            </a:prstGeom>
            <a:solidFill>
              <a:srgbClr val="FFFFFF"/>
            </a:solidFill>
            <a:ln w="16510">
              <a:solidFill>
                <a:srgbClr val="2768A5"/>
              </a:solidFill>
            </a:ln>
            <a:effectLst/>
          </p:spPr>
          <p:txBody>
            <a:bodyPr rtlCol="0" anchor="ctr"/>
            <a:lstStyle/>
            <a:p>
              <a:pPr algn="ctr"/>
            </a:p>
          </p:txBody>
        </p:sp>
        <p:grpSp>
          <p:nvGrpSpPr>
            <p:cNvPr id="41" name="A/Pass1/Chip"/>
            <p:cNvGrpSpPr/>
            <p:nvPr/>
          </p:nvGrpSpPr>
          <p:grpSpPr>
            <a:xfrm>
              <a:off x="690189" y="3442533"/>
              <a:ext cx="430133" cy="430133"/>
              <a:chOff x="690189" y="3442533"/>
              <a:chExt cx="430133" cy="430133"/>
            </a:xfrm>
          </p:grpSpPr>
          <p:sp>
            <p:nvSpPr>
              <p:cNvPr id="42" name="A/Pass1/Chip/Core"/>
              <p:cNvSpPr/>
              <p:nvPr/>
            </p:nvSpPr>
            <p:spPr>
              <a:xfrm>
                <a:off x="764804" y="3517148"/>
                <a:ext cx="280903" cy="280903"/>
              </a:xfrm>
              <a:prstGeom prst="roundRect">
                <a:avLst>
                  <a:gd name="adj" fmla="val 14648"/>
                </a:avLst>
              </a:prstGeom>
              <a:solidFill>
                <a:srgbClr val="FFFFFF"/>
              </a:solidFill>
              <a:ln w="17145">
                <a:solidFill>
                  <a:srgbClr val="2768A5"/>
                </a:solidFill>
              </a:ln>
              <a:effectLst/>
            </p:spPr>
            <p:txBody>
              <a:bodyPr rtlCol="0" anchor="ctr"/>
              <a:lstStyle/>
              <a:p>
                <a:pPr algn="ctr"/>
              </a:p>
            </p:txBody>
          </p:sp>
          <p:cxnSp>
            <p:nvCxnSpPr>
              <p:cNvPr id="43" name="A/Pass1/Chip/PinL-0.2"/>
              <p:cNvCxnSpPr/>
              <p:nvPr/>
            </p:nvCxnSpPr>
            <p:spPr>
              <a:xfrm>
                <a:off x="690189" y="3569817"/>
                <a:ext cx="65836" cy="0"/>
              </a:xfrm>
              <a:prstGeom prst="line">
                <a:avLst/>
              </a:prstGeom>
              <a:ln w="13970" cap="rnd">
                <a:solidFill>
                  <a:srgbClr val="2768A5"/>
                </a:solidFill>
              </a:ln>
            </p:spPr>
          </p:cxnSp>
          <p:cxnSp>
            <p:nvCxnSpPr>
              <p:cNvPr id="44" name="A/Pass1/Chip/PinR-0.2"/>
              <p:cNvCxnSpPr/>
              <p:nvPr/>
            </p:nvCxnSpPr>
            <p:spPr>
              <a:xfrm>
                <a:off x="1054486" y="3569817"/>
                <a:ext cx="65836" cy="0"/>
              </a:xfrm>
              <a:prstGeom prst="line">
                <a:avLst/>
              </a:prstGeom>
              <a:ln w="13970" cap="rnd">
                <a:solidFill>
                  <a:srgbClr val="2768A5"/>
                </a:solidFill>
              </a:ln>
            </p:spPr>
          </p:cxnSp>
          <p:cxnSp>
            <p:nvCxnSpPr>
              <p:cNvPr id="45" name="A/Pass1/Chip/PinT-0.2"/>
              <p:cNvCxnSpPr/>
              <p:nvPr/>
            </p:nvCxnSpPr>
            <p:spPr>
              <a:xfrm>
                <a:off x="817473" y="3442533"/>
                <a:ext cx="0" cy="65836"/>
              </a:xfrm>
              <a:prstGeom prst="line">
                <a:avLst/>
              </a:prstGeom>
              <a:ln w="13970" cap="rnd">
                <a:solidFill>
                  <a:srgbClr val="2768A5"/>
                </a:solidFill>
              </a:ln>
            </p:spPr>
          </p:cxnSp>
          <p:cxnSp>
            <p:nvCxnSpPr>
              <p:cNvPr id="46" name="A/Pass1/Chip/PinB-0.2"/>
              <p:cNvCxnSpPr/>
              <p:nvPr/>
            </p:nvCxnSpPr>
            <p:spPr>
              <a:xfrm>
                <a:off x="817473" y="3806830"/>
                <a:ext cx="0" cy="65836"/>
              </a:xfrm>
              <a:prstGeom prst="line">
                <a:avLst/>
              </a:prstGeom>
              <a:ln w="13970" cap="rnd">
                <a:solidFill>
                  <a:srgbClr val="2768A5"/>
                </a:solidFill>
              </a:ln>
            </p:spPr>
          </p:cxnSp>
          <p:cxnSp>
            <p:nvCxnSpPr>
              <p:cNvPr id="47" name="A/Pass1/Chip/PinL0"/>
              <p:cNvCxnSpPr/>
              <p:nvPr/>
            </p:nvCxnSpPr>
            <p:spPr>
              <a:xfrm>
                <a:off x="690189" y="3657600"/>
                <a:ext cx="65836" cy="0"/>
              </a:xfrm>
              <a:prstGeom prst="line">
                <a:avLst/>
              </a:prstGeom>
              <a:ln w="13970" cap="rnd">
                <a:solidFill>
                  <a:srgbClr val="2768A5"/>
                </a:solidFill>
              </a:ln>
            </p:spPr>
          </p:cxnSp>
          <p:cxnSp>
            <p:nvCxnSpPr>
              <p:cNvPr id="48" name="A/Pass1/Chip/PinR0"/>
              <p:cNvCxnSpPr/>
              <p:nvPr/>
            </p:nvCxnSpPr>
            <p:spPr>
              <a:xfrm>
                <a:off x="1054486" y="3657600"/>
                <a:ext cx="65836" cy="0"/>
              </a:xfrm>
              <a:prstGeom prst="line">
                <a:avLst/>
              </a:prstGeom>
              <a:ln w="13970" cap="rnd">
                <a:solidFill>
                  <a:srgbClr val="2768A5"/>
                </a:solidFill>
              </a:ln>
            </p:spPr>
          </p:cxnSp>
          <p:cxnSp>
            <p:nvCxnSpPr>
              <p:cNvPr id="49" name="A/Pass1/Chip/PinT0"/>
              <p:cNvCxnSpPr/>
              <p:nvPr/>
            </p:nvCxnSpPr>
            <p:spPr>
              <a:xfrm>
                <a:off x="905256" y="3442533"/>
                <a:ext cx="0" cy="65836"/>
              </a:xfrm>
              <a:prstGeom prst="line">
                <a:avLst/>
              </a:prstGeom>
              <a:ln w="13970" cap="rnd">
                <a:solidFill>
                  <a:srgbClr val="2768A5"/>
                </a:solidFill>
              </a:ln>
            </p:spPr>
          </p:cxnSp>
          <p:cxnSp>
            <p:nvCxnSpPr>
              <p:cNvPr id="50" name="A/Pass1/Chip/PinB0"/>
              <p:cNvCxnSpPr/>
              <p:nvPr/>
            </p:nvCxnSpPr>
            <p:spPr>
              <a:xfrm>
                <a:off x="905256" y="3806830"/>
                <a:ext cx="0" cy="65836"/>
              </a:xfrm>
              <a:prstGeom prst="line">
                <a:avLst/>
              </a:prstGeom>
              <a:ln w="13970" cap="rnd">
                <a:solidFill>
                  <a:srgbClr val="2768A5"/>
                </a:solidFill>
              </a:ln>
            </p:spPr>
          </p:cxnSp>
          <p:cxnSp>
            <p:nvCxnSpPr>
              <p:cNvPr id="51" name="A/Pass1/Chip/PinL0.2"/>
              <p:cNvCxnSpPr/>
              <p:nvPr/>
            </p:nvCxnSpPr>
            <p:spPr>
              <a:xfrm>
                <a:off x="690189" y="3745382"/>
                <a:ext cx="65836" cy="0"/>
              </a:xfrm>
              <a:prstGeom prst="line">
                <a:avLst/>
              </a:prstGeom>
              <a:ln w="13970" cap="rnd">
                <a:solidFill>
                  <a:srgbClr val="2768A5"/>
                </a:solidFill>
              </a:ln>
            </p:spPr>
          </p:cxnSp>
          <p:cxnSp>
            <p:nvCxnSpPr>
              <p:cNvPr id="52" name="A/Pass1/Chip/PinR0.2"/>
              <p:cNvCxnSpPr/>
              <p:nvPr/>
            </p:nvCxnSpPr>
            <p:spPr>
              <a:xfrm>
                <a:off x="1054486" y="3745382"/>
                <a:ext cx="65836" cy="0"/>
              </a:xfrm>
              <a:prstGeom prst="line">
                <a:avLst/>
              </a:prstGeom>
              <a:ln w="13970" cap="rnd">
                <a:solidFill>
                  <a:srgbClr val="2768A5"/>
                </a:solidFill>
              </a:ln>
            </p:spPr>
          </p:cxnSp>
          <p:cxnSp>
            <p:nvCxnSpPr>
              <p:cNvPr id="53" name="A/Pass1/Chip/PinT0.2"/>
              <p:cNvCxnSpPr/>
              <p:nvPr/>
            </p:nvCxnSpPr>
            <p:spPr>
              <a:xfrm>
                <a:off x="993038" y="3442533"/>
                <a:ext cx="0" cy="65836"/>
              </a:xfrm>
              <a:prstGeom prst="line">
                <a:avLst/>
              </a:prstGeom>
              <a:ln w="13970" cap="rnd">
                <a:solidFill>
                  <a:srgbClr val="2768A5"/>
                </a:solidFill>
              </a:ln>
            </p:spPr>
          </p:cxnSp>
          <p:cxnSp>
            <p:nvCxnSpPr>
              <p:cNvPr id="54" name="A/Pass1/Chip/PinB0.2"/>
              <p:cNvCxnSpPr/>
              <p:nvPr/>
            </p:nvCxnSpPr>
            <p:spPr>
              <a:xfrm>
                <a:off x="993038" y="3806830"/>
                <a:ext cx="0" cy="65836"/>
              </a:xfrm>
              <a:prstGeom prst="line">
                <a:avLst/>
              </a:prstGeom>
              <a:ln w="13970" cap="rnd">
                <a:solidFill>
                  <a:srgbClr val="2768A5"/>
                </a:solidFill>
              </a:ln>
            </p:spPr>
          </p:cxnSp>
          <p:sp>
            <p:nvSpPr>
              <p:cNvPr id="55" name="A/Pass1/Chip/Trace1"/>
              <p:cNvSpPr/>
              <p:nvPr/>
            </p:nvSpPr>
            <p:spPr>
              <a:xfrm>
                <a:off x="830640" y="3600541"/>
                <a:ext cx="140452" cy="100950"/>
              </a:xfrm>
              <a:custGeom>
                <a:avLst/>
                <a:gdLst/>
                <a:ahLst/>
                <a:cxnLst/>
                <a:rect l="l" t="t" r="r" b="b"/>
                <a:pathLst>
                  <a:path w="140452" h="100950">
                    <a:moveTo>
                      <a:pt x="0" y="0"/>
                    </a:moveTo>
                    <a:lnTo>
                      <a:pt x="74616" y="0"/>
                    </a:lnTo>
                    <a:lnTo>
                      <a:pt x="74616" y="100950"/>
                    </a:lnTo>
                    <a:lnTo>
                      <a:pt x="140452" y="100950"/>
                    </a:lnTo>
                  </a:path>
                </a:pathLst>
              </a:custGeom>
              <a:noFill/>
              <a:ln w="12700" cap="rnd">
                <a:solidFill>
                  <a:srgbClr val="2768A5"/>
                </a:solidFill>
                <a:round/>
              </a:ln>
              <a:effectLst/>
            </p:spPr>
            <p:txBody>
              <a:bodyPr rtlCol="0" anchor="ctr"/>
              <a:lstStyle/>
              <a:p>
                <a:pPr algn="ctr"/>
              </a:p>
            </p:txBody>
          </p:sp>
          <p:sp>
            <p:nvSpPr>
              <p:cNvPr id="56" name="A/Pass1/Chip/Trace2"/>
              <p:cNvSpPr/>
              <p:nvPr/>
            </p:nvSpPr>
            <p:spPr>
              <a:xfrm>
                <a:off x="835030" y="3666378"/>
                <a:ext cx="39502" cy="57058"/>
              </a:xfrm>
              <a:custGeom>
                <a:avLst/>
                <a:gdLst/>
                <a:ahLst/>
                <a:cxnLst/>
                <a:rect l="l" t="t" r="r" b="b"/>
                <a:pathLst>
                  <a:path w="39502" h="57058">
                    <a:moveTo>
                      <a:pt x="0" y="57058"/>
                    </a:moveTo>
                    <a:lnTo>
                      <a:pt x="39502" y="57058"/>
                    </a:lnTo>
                    <a:lnTo>
                      <a:pt x="39502" y="0"/>
                    </a:lnTo>
                  </a:path>
                </a:pathLst>
              </a:custGeom>
              <a:noFill/>
              <a:ln w="12700" cap="rnd">
                <a:solidFill>
                  <a:srgbClr val="2768A5"/>
                </a:solidFill>
                <a:round/>
              </a:ln>
              <a:effectLst/>
            </p:spPr>
            <p:txBody>
              <a:bodyPr rtlCol="0" anchor="ctr"/>
              <a:lstStyle/>
              <a:p>
                <a:pPr algn="ctr"/>
              </a:p>
            </p:txBody>
          </p:sp>
        </p:grpSp>
        <p:sp>
          <p:nvSpPr>
            <p:cNvPr id="57" name="A/Pass1/Label"/>
            <p:cNvSpPr txBox="1"/>
            <p:nvPr/>
          </p:nvSpPr>
          <p:spPr>
            <a:xfrm>
              <a:off x="1243584" y="3364992"/>
              <a:ext cx="1179576" cy="237744"/>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768A5"/>
                  </a:solidFill>
                  <a:latin typeface="Arial"/>
                  <a:ea typeface="Arial"/>
                  <a:cs typeface="Arial"/>
                </a:rPr>
                <a:t>Pass 1</a:t>
              </a:r>
            </a:p>
          </p:txBody>
        </p:sp>
        <p:sp>
          <p:nvSpPr>
            <p:cNvPr id="58" name="A/Pass1/Model"/>
            <p:cNvSpPr txBox="1"/>
            <p:nvPr/>
          </p:nvSpPr>
          <p:spPr>
            <a:xfrm>
              <a:off x="1243584" y="3648456"/>
              <a:ext cx="1179576" cy="256032"/>
            </a:xfrm>
            <a:prstGeom prst="rect">
              <a:avLst/>
            </a:prstGeom>
            <a:noFill/>
          </p:spPr>
          <p:txBody>
            <a:bodyPr wrap="none" lIns="0" rIns="0" tIns="0" bIns="0" anchor="ctr">
              <a:noAutofit/>
            </a:bodyPr>
            <a:lstStyle/>
            <a:p>
              <a:pPr algn="l">
                <a:lnSpc>
                  <a:spcPct val="103000"/>
                </a:lnSpc>
                <a:spcBef>
                  <a:spcPts val="0"/>
                </a:spcBef>
                <a:spcAft>
                  <a:spcPts val="0"/>
                </a:spcAft>
              </a:pPr>
              <a:r>
                <a:rPr sz="2250" b="1" i="0" lang="en-US" dirty="0">
                  <a:solidFill>
                    <a:srgbClr val="203346"/>
                  </a:solidFill>
                  <a:latin typeface="Arial"/>
                  <a:ea typeface="Arial"/>
                  <a:cs typeface="Arial"/>
                </a:rPr>
                <a:t>Model </a:t>
              </a:r>
              <a:r>
                <a:rPr sz="2250" b="1" i="1" lang="en-US" dirty="0">
                  <a:solidFill>
                    <a:srgbClr val="203346"/>
                  </a:solidFill>
                  <a:latin typeface="Times New Roman"/>
                  <a:ea typeface="Times New Roman"/>
                  <a:cs typeface="Times New Roman"/>
                </a:rPr>
                <a:t>M</a:t>
              </a:r>
            </a:p>
          </p:txBody>
        </p:sp>
        <p:cxnSp>
          <p:nvCxnSpPr>
            <p:cNvPr id="59" name="A/ModelToAnswer"/>
            <p:cNvCxnSpPr/>
            <p:nvPr/>
          </p:nvCxnSpPr>
          <p:spPr>
            <a:xfrm>
              <a:off x="1581912" y="4023360"/>
              <a:ext cx="0" cy="146303"/>
            </a:xfrm>
            <a:prstGeom prst="line">
              <a:avLst/>
            </a:prstGeom>
            <a:ln w="19050" cap="rnd">
              <a:solidFill>
                <a:srgbClr val="526270"/>
              </a:solidFill>
              <a:tailEnd type="triangle" w="sm" len="sm"/>
            </a:ln>
          </p:spPr>
        </p:cxnSp>
        <p:sp>
          <p:nvSpPr>
            <p:cNvPr id="60" name="A/SharedAnswer/Card"/>
            <p:cNvSpPr/>
            <p:nvPr/>
          </p:nvSpPr>
          <p:spPr>
            <a:xfrm>
              <a:off x="512064" y="4197096"/>
              <a:ext cx="2139696" cy="713232"/>
            </a:xfrm>
            <a:prstGeom prst="roundRect">
              <a:avLst>
                <a:gd name="adj" fmla="val 11538"/>
              </a:avLst>
            </a:prstGeom>
            <a:solidFill>
              <a:srgbClr val="ECF4FC"/>
            </a:solidFill>
            <a:ln w="17780">
              <a:solidFill>
                <a:srgbClr val="2768A5"/>
              </a:solidFill>
            </a:ln>
            <a:effectLst/>
          </p:spPr>
          <p:txBody>
            <a:bodyPr rtlCol="0" anchor="ctr"/>
            <a:lstStyle/>
            <a:p>
              <a:pPr algn="ctr"/>
            </a:p>
          </p:txBody>
        </p:sp>
        <p:sp>
          <p:nvSpPr>
            <p:cNvPr id="61" name="A/SharedAnswer/Title"/>
            <p:cNvSpPr txBox="1"/>
            <p:nvPr/>
          </p:nvSpPr>
          <p:spPr>
            <a:xfrm>
              <a:off x="667512" y="4251960"/>
              <a:ext cx="1828800" cy="246888"/>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203346"/>
                  </a:solidFill>
                  <a:latin typeface="Arial"/>
                  <a:ea typeface="Arial"/>
                  <a:cs typeface="Arial"/>
                </a:rPr>
                <a:t>Initial answer</a:t>
              </a:r>
            </a:p>
          </p:txBody>
        </p:sp>
        <p:sp>
          <p:nvSpPr>
            <p:cNvPr id="62" name="A/SharedAnswer/Value"/>
            <p:cNvSpPr txBox="1"/>
            <p:nvPr/>
          </p:nvSpPr>
          <p:spPr>
            <a:xfrm>
              <a:off x="658368" y="4526280"/>
              <a:ext cx="1847088" cy="283464"/>
            </a:xfrm>
            <a:prstGeom prst="rect">
              <a:avLst/>
            </a:prstGeom>
            <a:noFill/>
          </p:spPr>
          <p:txBody>
            <a:bodyPr wrap="none" lIns="0" rIns="0" tIns="0" bIns="0" anchor="ctr">
              <a:noAutofit/>
            </a:bodyPr>
            <a:lstStyle/>
            <a:p>
              <a:pPr algn="ctr">
                <a:lnSpc>
                  <a:spcPct val="103000"/>
                </a:lnSpc>
                <a:spcBef>
                  <a:spcPts val="0"/>
                </a:spcBef>
                <a:spcAft>
                  <a:spcPts val="0"/>
                </a:spcAft>
              </a:pPr>
              <a:r>
                <a:rPr sz="2400" b="0" i="0" lang="en-US" dirty="0">
                  <a:solidFill>
                    <a:srgbClr val="203346"/>
                  </a:solidFill>
                  <a:latin typeface="Times New Roman"/>
                  <a:ea typeface="Times New Roman"/>
                  <a:cs typeface="Times New Roman"/>
                </a:rPr>
                <a:t>Y₁ : Yes / No</a:t>
              </a:r>
            </a:p>
          </p:txBody>
        </p:sp>
        <p:sp>
          <p:nvSpPr>
            <p:cNvPr id="63" name="A/OneGenerationNote"/>
            <p:cNvSpPr txBox="1"/>
            <p:nvPr/>
          </p:nvSpPr>
          <p:spPr>
            <a:xfrm>
              <a:off x="329184" y="4956048"/>
              <a:ext cx="2496312" cy="228600"/>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526270"/>
                  </a:solidFill>
                  <a:latin typeface="Arial"/>
                  <a:ea typeface="Arial"/>
                  <a:cs typeface="Arial"/>
                </a:rPr>
                <a:t>One shared Pass 1.</a:t>
              </a:r>
            </a:p>
          </p:txBody>
        </p:sp>
      </p:grpSp>
      <p:grpSp>
        <p:nvGrpSpPr>
          <p:cNvPr id="3" name="B | Branch-paired revision"/>
          <p:cNvGrpSpPr/>
          <p:nvPr/>
        </p:nvGrpSpPr>
        <p:grpSpPr>
          <a:xfrm>
            <a:off x="3529584" y="155448"/>
            <a:ext cx="6638543" cy="5321808"/>
            <a:chOff x="3529584" y="155448"/>
            <a:chExt cx="6638543" cy="5321808"/>
          </a:xfrm>
        </p:grpSpPr>
        <p:sp>
          <p:nvSpPr>
            <p:cNvPr id="9" name="B/Header/Letter"/>
            <p:cNvSpPr txBox="1"/>
            <p:nvPr/>
          </p:nvSpPr>
          <p:spPr>
            <a:xfrm>
              <a:off x="3529584"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b</a:t>
              </a:r>
            </a:p>
          </p:txBody>
        </p:sp>
        <p:sp>
          <p:nvSpPr>
            <p:cNvPr id="10" name="B/Header/Title"/>
            <p:cNvSpPr txBox="1"/>
            <p:nvPr/>
          </p:nvSpPr>
          <p:spPr>
            <a:xfrm>
              <a:off x="3922776" y="155448"/>
              <a:ext cx="6117336"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Pass 2: paired revision</a:t>
              </a:r>
            </a:p>
          </p:txBody>
        </p:sp>
        <p:sp>
          <p:nvSpPr>
            <p:cNvPr id="64" name="B/FixedContext/Band"/>
            <p:cNvSpPr/>
            <p:nvPr/>
          </p:nvSpPr>
          <p:spPr>
            <a:xfrm>
              <a:off x="3529584" y="832104"/>
              <a:ext cx="6574536" cy="548640"/>
            </a:xfrm>
            <a:prstGeom prst="roundRect">
              <a:avLst>
                <a:gd name="adj" fmla="val 12500"/>
              </a:avLst>
            </a:prstGeom>
            <a:solidFill>
              <a:srgbClr val="EAF5F1"/>
            </a:solidFill>
            <a:ln w="12700">
              <a:solidFill>
                <a:srgbClr val="87B9AD"/>
              </a:solidFill>
            </a:ln>
            <a:effectLst/>
          </p:spPr>
          <p:txBody>
            <a:bodyPr rtlCol="0" anchor="ctr"/>
            <a:lstStyle/>
            <a:p>
              <a:pPr algn="ctr"/>
            </a:p>
          </p:txBody>
        </p:sp>
        <p:grpSp>
          <p:nvGrpSpPr>
            <p:cNvPr id="65" name="B/FixedContext/Lock"/>
            <p:cNvGrpSpPr/>
            <p:nvPr/>
          </p:nvGrpSpPr>
          <p:grpSpPr>
            <a:xfrm>
              <a:off x="3714658" y="964692"/>
              <a:ext cx="215066" cy="253471"/>
              <a:chOff x="3714658" y="964692"/>
              <a:chExt cx="215066" cy="253471"/>
            </a:xfrm>
          </p:grpSpPr>
          <p:sp>
            <p:nvSpPr>
              <p:cNvPr id="66" name="B/FixedContext/Lock/Shackle"/>
              <p:cNvSpPr/>
              <p:nvPr/>
            </p:nvSpPr>
            <p:spPr>
              <a:xfrm>
                <a:off x="3750503" y="964692"/>
                <a:ext cx="143377" cy="135696"/>
              </a:xfrm>
              <a:custGeom>
                <a:avLst/>
                <a:gdLst/>
                <a:ahLst/>
                <a:cxnLst/>
                <a:rect l="0" t="0" r="r" b="b"/>
                <a:pathLst>
                  <a:path w="100000" h="100000" fill="none">
                    <a:moveTo>
                      <a:pt x="0" y="100000"/>
                    </a:moveTo>
                    <a:lnTo>
                      <a:pt x="0" y="57000"/>
                    </a:lnTo>
                    <a:cubicBezTo>
                      <a:pt x="0" y="-17000"/>
                      <a:pt x="100000" y="-17000"/>
                      <a:pt x="100000" y="57000"/>
                    </a:cubicBezTo>
                    <a:lnTo>
                      <a:pt x="100000" y="100000"/>
                    </a:lnTo>
                  </a:path>
                </a:pathLst>
              </a:custGeom>
              <a:noFill/>
              <a:ln w="19050" cap="rnd">
                <a:solidFill>
                  <a:srgbClr val="187D70"/>
                </a:solidFill>
                <a:round/>
              </a:ln>
              <a:effectLst/>
            </p:spPr>
            <p:txBody>
              <a:bodyPr rtlCol="0" anchor="ctr"/>
              <a:lstStyle/>
              <a:p>
                <a:pPr algn="ctr"/>
              </a:p>
            </p:txBody>
          </p:sp>
          <p:sp>
            <p:nvSpPr>
              <p:cNvPr id="67" name="B/FixedContext/Lock/Body"/>
              <p:cNvSpPr/>
              <p:nvPr/>
            </p:nvSpPr>
            <p:spPr>
              <a:xfrm>
                <a:off x="3714658" y="1072225"/>
                <a:ext cx="215066" cy="145938"/>
              </a:xfrm>
              <a:prstGeom prst="roundRect">
                <a:avLst>
                  <a:gd name="adj" fmla="val 21929"/>
                </a:avLst>
              </a:prstGeom>
              <a:solidFill>
                <a:srgbClr val="187D70"/>
              </a:solidFill>
              <a:ln w="7620">
                <a:solidFill>
                  <a:srgbClr val="187D70"/>
                </a:solidFill>
              </a:ln>
              <a:effectLst/>
            </p:spPr>
            <p:txBody>
              <a:bodyPr rtlCol="0" anchor="ctr"/>
              <a:lstStyle/>
              <a:p>
                <a:pPr algn="ctr"/>
              </a:p>
            </p:txBody>
          </p:sp>
          <p:sp>
            <p:nvSpPr>
              <p:cNvPr id="68" name="B/FixedContext/Lock/Key"/>
              <p:cNvSpPr/>
              <p:nvPr/>
            </p:nvSpPr>
            <p:spPr>
              <a:xfrm>
                <a:off x="3809390" y="1115750"/>
                <a:ext cx="30723" cy="30723"/>
              </a:xfrm>
              <a:prstGeom prst="ellipse">
                <a:avLst/>
              </a:prstGeom>
              <a:solidFill>
                <a:srgbClr val="FFFFFF"/>
              </a:solidFill>
              <a:ln>
                <a:noFill/>
              </a:ln>
              <a:effectLst/>
            </p:spPr>
            <p:txBody>
              <a:bodyPr rtlCol="0" anchor="ctr"/>
              <a:lstStyle/>
              <a:p>
                <a:pPr algn="ctr"/>
              </a:p>
            </p:txBody>
          </p:sp>
          <p:cxnSp>
            <p:nvCxnSpPr>
              <p:cNvPr id="69" name="B/FixedContext/Lock/KeySlot"/>
              <p:cNvCxnSpPr/>
              <p:nvPr/>
            </p:nvCxnSpPr>
            <p:spPr>
              <a:xfrm>
                <a:off x="3824752" y="1136233"/>
                <a:ext cx="0" cy="28163"/>
              </a:xfrm>
              <a:prstGeom prst="line">
                <a:avLst/>
              </a:prstGeom>
              <a:ln w="11430" cap="rnd">
                <a:solidFill>
                  <a:srgbClr val="FFFFFF"/>
                </a:solidFill>
              </a:ln>
            </p:spPr>
          </p:cxnSp>
        </p:grpSp>
        <p:sp>
          <p:nvSpPr>
            <p:cNvPr id="70" name="B/FixedContext/Text"/>
            <p:cNvSpPr txBox="1"/>
            <p:nvPr/>
          </p:nvSpPr>
          <p:spPr>
            <a:xfrm>
              <a:off x="4059936" y="923544"/>
              <a:ext cx="5870448" cy="338328"/>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187D70"/>
                  </a:solidFill>
                  <a:latin typeface="Arial"/>
                  <a:ea typeface="Arial"/>
                  <a:cs typeface="Arial"/>
                </a:rPr>
                <a:t>Same Q, E, and Y₁ in every branch</a:t>
              </a:r>
            </a:p>
          </p:txBody>
        </p:sp>
        <p:sp>
          <p:nvSpPr>
            <p:cNvPr id="71" name="B/SourceHeader"/>
            <p:cNvSpPr txBox="1"/>
            <p:nvPr/>
          </p:nvSpPr>
          <p:spPr>
            <a:xfrm>
              <a:off x="3657600" y="1417320"/>
              <a:ext cx="3566160" cy="228600"/>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526270"/>
                  </a:solidFill>
                  <a:latin typeface="Arial"/>
                  <a:ea typeface="Arial"/>
                  <a:cs typeface="Arial"/>
                </a:rPr>
                <a:t>Revision context</a:t>
              </a:r>
            </a:p>
          </p:txBody>
        </p:sp>
        <p:sp>
          <p:nvSpPr>
            <p:cNvPr id="72" name="B/Pass2Header"/>
            <p:cNvSpPr txBox="1"/>
            <p:nvPr/>
          </p:nvSpPr>
          <p:spPr>
            <a:xfrm>
              <a:off x="7708392" y="1408176"/>
              <a:ext cx="1188720" cy="265176"/>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526270"/>
                  </a:solidFill>
                  <a:latin typeface="Arial"/>
                  <a:ea typeface="Arial"/>
                  <a:cs typeface="Arial"/>
                </a:rPr>
                <a:t>Same M</a:t>
              </a:r>
            </a:p>
          </p:txBody>
        </p:sp>
        <p:sp>
          <p:nvSpPr>
            <p:cNvPr id="73" name="B/AnswerHeader"/>
            <p:cNvSpPr txBox="1"/>
            <p:nvPr/>
          </p:nvSpPr>
          <p:spPr>
            <a:xfrm>
              <a:off x="9125712" y="1408176"/>
              <a:ext cx="1042415" cy="265176"/>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526270"/>
                  </a:solidFill>
                  <a:latin typeface="Arial"/>
                  <a:ea typeface="Arial"/>
                  <a:cs typeface="Arial"/>
                </a:rPr>
                <a:t>Answer</a:t>
              </a:r>
            </a:p>
          </p:txBody>
        </p:sp>
        <p:grpSp>
          <p:nvGrpSpPr>
            <p:cNvPr id="74" name="B/A0 | Neutral reflection"/>
            <p:cNvGrpSpPr/>
            <p:nvPr/>
          </p:nvGrpSpPr>
          <p:grpSpPr>
            <a:xfrm>
              <a:off x="3529584" y="1700784"/>
              <a:ext cx="6565392" cy="1097280"/>
              <a:chOff x="3529584" y="1700784"/>
              <a:chExt cx="6565392" cy="1097280"/>
            </a:xfrm>
          </p:grpSpPr>
          <p:sp>
            <p:nvSpPr>
              <p:cNvPr id="75" name="B/A0/Prompt"/>
              <p:cNvSpPr/>
              <p:nvPr/>
            </p:nvSpPr>
            <p:spPr>
              <a:xfrm>
                <a:off x="3529584" y="1700784"/>
                <a:ext cx="4032504" cy="1097280"/>
              </a:xfrm>
              <a:prstGeom prst="roundRect">
                <a:avLst>
                  <a:gd name="adj" fmla="val 7500"/>
                </a:avLst>
              </a:prstGeom>
              <a:solidFill>
                <a:srgbClr val="F1F4F6"/>
              </a:solidFill>
              <a:ln w="14604">
                <a:solidFill>
                  <a:srgbClr val="B9C6CF"/>
                </a:solidFill>
              </a:ln>
              <a:effectLst/>
            </p:spPr>
            <p:txBody>
              <a:bodyPr rtlCol="0" anchor="ctr"/>
              <a:lstStyle/>
              <a:p>
                <a:pPr algn="ctr"/>
              </a:p>
            </p:txBody>
          </p:sp>
          <p:sp>
            <p:nvSpPr>
              <p:cNvPr id="76" name="B/A0/Badge/Plate"/>
              <p:cNvSpPr/>
              <p:nvPr/>
            </p:nvSpPr>
            <p:spPr>
              <a:xfrm>
                <a:off x="3685032" y="1828800"/>
                <a:ext cx="493776" cy="384048"/>
              </a:xfrm>
              <a:prstGeom prst="roundRect">
                <a:avLst>
                  <a:gd name="adj" fmla="val 13095"/>
                </a:avLst>
              </a:prstGeom>
              <a:solidFill>
                <a:srgbClr val="FFFFFF"/>
              </a:solidFill>
              <a:ln w="12700">
                <a:solidFill>
                  <a:srgbClr val="66737D"/>
                </a:solidFill>
              </a:ln>
              <a:effectLst/>
            </p:spPr>
            <p:txBody>
              <a:bodyPr rtlCol="0" anchor="ctr"/>
              <a:lstStyle/>
              <a:p>
                <a:pPr algn="ctr"/>
              </a:p>
            </p:txBody>
          </p:sp>
          <p:sp>
            <p:nvSpPr>
              <p:cNvPr id="77" name="B/A0/Badge/Text"/>
              <p:cNvSpPr txBox="1"/>
              <p:nvPr/>
            </p:nvSpPr>
            <p:spPr>
              <a:xfrm>
                <a:off x="3703320" y="1828800"/>
                <a:ext cx="457200" cy="374904"/>
              </a:xfrm>
              <a:prstGeom prst="rect">
                <a:avLst/>
              </a:prstGeom>
              <a:noFill/>
            </p:spPr>
            <p:txBody>
              <a:bodyPr wrap="none" lIns="0" rIns="0" tIns="0" bIns="0" anchor="ctr">
                <a:noAutofit/>
              </a:bodyPr>
              <a:lstStyle/>
              <a:p>
                <a:pPr algn="ctr">
                  <a:lnSpc>
                    <a:spcPct val="103000"/>
                  </a:lnSpc>
                  <a:spcBef>
                    <a:spcPts val="0"/>
                  </a:spcBef>
                  <a:spcAft>
                    <a:spcPts val="0"/>
                  </a:spcAft>
                </a:pPr>
                <a:r>
                  <a:rPr sz="2300" b="0" i="0" lang="en-US" dirty="0">
                    <a:solidFill>
                      <a:srgbClr val="66737D"/>
                    </a:solidFill>
                    <a:latin typeface="Times New Roman"/>
                    <a:ea typeface="Times New Roman"/>
                    <a:cs typeface="Times New Roman"/>
                  </a:rPr>
                  <a:t>A₀</a:t>
                </a:r>
              </a:p>
            </p:txBody>
          </p:sp>
          <p:sp>
            <p:nvSpPr>
              <p:cNvPr id="78" name="B/A0/Title"/>
              <p:cNvSpPr txBox="1"/>
              <p:nvPr/>
            </p:nvSpPr>
            <p:spPr>
              <a:xfrm>
                <a:off x="4315968" y="1810512"/>
                <a:ext cx="3127248" cy="36576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66737D"/>
                    </a:solidFill>
                    <a:latin typeface="Arial"/>
                    <a:ea typeface="Arial"/>
                    <a:cs typeface="Arial"/>
                  </a:rPr>
                  <a:t>Neutral reflection</a:t>
                </a:r>
              </a:p>
            </p:txBody>
          </p:sp>
          <p:sp>
            <p:nvSpPr>
              <p:cNvPr id="79" name="B/A0/Content"/>
              <p:cNvSpPr txBox="1"/>
              <p:nvPr/>
            </p:nvSpPr>
            <p:spPr>
              <a:xfrm>
                <a:off x="3694176" y="2276856"/>
                <a:ext cx="3694176" cy="28346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No opponent; same evidence.</a:t>
                </a:r>
              </a:p>
            </p:txBody>
          </p:sp>
          <p:cxnSp>
            <p:nvCxnSpPr>
              <p:cNvPr id="80" name="B/A0/PromptToModel"/>
              <p:cNvCxnSpPr/>
              <p:nvPr/>
            </p:nvCxnSpPr>
            <p:spPr>
              <a:xfrm>
                <a:off x="7580375" y="2249424"/>
                <a:ext cx="210313" cy="0"/>
              </a:xfrm>
              <a:prstGeom prst="line">
                <a:avLst/>
              </a:prstGeom>
              <a:ln w="19050" cap="rnd">
                <a:solidFill>
                  <a:srgbClr val="66737D"/>
                </a:solidFill>
                <a:tailEnd type="triangle" w="sm" len="sm"/>
              </a:ln>
            </p:spPr>
          </p:cxnSp>
          <p:sp>
            <p:nvSpPr>
              <p:cNvPr id="81" name="B/A0/SameModel"/>
              <p:cNvSpPr/>
              <p:nvPr/>
            </p:nvSpPr>
            <p:spPr>
              <a:xfrm>
                <a:off x="7836408" y="1938528"/>
                <a:ext cx="914400" cy="621792"/>
              </a:xfrm>
              <a:prstGeom prst="roundRect">
                <a:avLst>
                  <a:gd name="adj" fmla="val 11764"/>
                </a:avLst>
              </a:prstGeom>
              <a:solidFill>
                <a:srgbClr val="FFFFFF"/>
              </a:solidFill>
              <a:ln w="15240">
                <a:solidFill>
                  <a:srgbClr val="B9C6CF"/>
                </a:solidFill>
              </a:ln>
              <a:effectLst/>
            </p:spPr>
            <p:txBody>
              <a:bodyPr rtlCol="0" anchor="ctr"/>
              <a:lstStyle/>
              <a:p>
                <a:pPr algn="ctr"/>
              </a:p>
            </p:txBody>
          </p:sp>
          <p:grpSp>
            <p:nvGrpSpPr>
              <p:cNvPr id="82" name="B/A0/Chip"/>
              <p:cNvGrpSpPr/>
              <p:nvPr/>
            </p:nvGrpSpPr>
            <p:grpSpPr>
              <a:xfrm>
                <a:off x="7903524" y="2097084"/>
                <a:ext cx="304679" cy="304679"/>
                <a:chOff x="7903524" y="2097084"/>
                <a:chExt cx="304679" cy="304679"/>
              </a:xfrm>
            </p:grpSpPr>
            <p:sp>
              <p:nvSpPr>
                <p:cNvPr id="83" name="B/A0/Chip/Core"/>
                <p:cNvSpPr/>
                <p:nvPr/>
              </p:nvSpPr>
              <p:spPr>
                <a:xfrm>
                  <a:off x="7956377" y="2149937"/>
                  <a:ext cx="198973" cy="198973"/>
                </a:xfrm>
                <a:prstGeom prst="roundRect">
                  <a:avLst>
                    <a:gd name="adj" fmla="val 20680"/>
                  </a:avLst>
                </a:prstGeom>
                <a:solidFill>
                  <a:srgbClr val="FFFFFF"/>
                </a:solidFill>
                <a:ln w="17145">
                  <a:solidFill>
                    <a:srgbClr val="66737D"/>
                  </a:solidFill>
                </a:ln>
                <a:effectLst/>
              </p:spPr>
              <p:txBody>
                <a:bodyPr rtlCol="0" anchor="ctr"/>
                <a:lstStyle/>
                <a:p>
                  <a:pPr algn="ctr"/>
                </a:p>
              </p:txBody>
            </p:sp>
            <p:cxnSp>
              <p:nvCxnSpPr>
                <p:cNvPr id="84" name="B/A0/Chip/PinL-0.2"/>
                <p:cNvCxnSpPr/>
                <p:nvPr/>
              </p:nvCxnSpPr>
              <p:spPr>
                <a:xfrm>
                  <a:off x="7903524" y="2187244"/>
                  <a:ext cx="46635" cy="0"/>
                </a:xfrm>
                <a:prstGeom prst="line">
                  <a:avLst/>
                </a:prstGeom>
                <a:ln w="13970" cap="rnd">
                  <a:solidFill>
                    <a:srgbClr val="66737D"/>
                  </a:solidFill>
                </a:ln>
              </p:spPr>
            </p:cxnSp>
            <p:cxnSp>
              <p:nvCxnSpPr>
                <p:cNvPr id="85" name="B/A0/Chip/PinR-0.2"/>
                <p:cNvCxnSpPr/>
                <p:nvPr/>
              </p:nvCxnSpPr>
              <p:spPr>
                <a:xfrm>
                  <a:off x="8161568" y="2187244"/>
                  <a:ext cx="46635" cy="0"/>
                </a:xfrm>
                <a:prstGeom prst="line">
                  <a:avLst/>
                </a:prstGeom>
                <a:ln w="13970" cap="rnd">
                  <a:solidFill>
                    <a:srgbClr val="66737D"/>
                  </a:solidFill>
                </a:ln>
              </p:spPr>
            </p:cxnSp>
            <p:cxnSp>
              <p:nvCxnSpPr>
                <p:cNvPr id="86" name="B/A0/Chip/PinT-0.2"/>
                <p:cNvCxnSpPr/>
                <p:nvPr/>
              </p:nvCxnSpPr>
              <p:spPr>
                <a:xfrm>
                  <a:off x="7993684" y="2097084"/>
                  <a:ext cx="0" cy="46635"/>
                </a:xfrm>
                <a:prstGeom prst="line">
                  <a:avLst/>
                </a:prstGeom>
                <a:ln w="13970" cap="rnd">
                  <a:solidFill>
                    <a:srgbClr val="66737D"/>
                  </a:solidFill>
                </a:ln>
              </p:spPr>
            </p:cxnSp>
            <p:cxnSp>
              <p:nvCxnSpPr>
                <p:cNvPr id="87" name="B/A0/Chip/PinB-0.2"/>
                <p:cNvCxnSpPr/>
                <p:nvPr/>
              </p:nvCxnSpPr>
              <p:spPr>
                <a:xfrm>
                  <a:off x="7993684" y="2355128"/>
                  <a:ext cx="0" cy="46635"/>
                </a:xfrm>
                <a:prstGeom prst="line">
                  <a:avLst/>
                </a:prstGeom>
                <a:ln w="13970" cap="rnd">
                  <a:solidFill>
                    <a:srgbClr val="66737D"/>
                  </a:solidFill>
                </a:ln>
              </p:spPr>
            </p:cxnSp>
            <p:cxnSp>
              <p:nvCxnSpPr>
                <p:cNvPr id="88" name="B/A0/Chip/PinL0"/>
                <p:cNvCxnSpPr/>
                <p:nvPr/>
              </p:nvCxnSpPr>
              <p:spPr>
                <a:xfrm>
                  <a:off x="7903524" y="2249424"/>
                  <a:ext cx="46635" cy="0"/>
                </a:xfrm>
                <a:prstGeom prst="line">
                  <a:avLst/>
                </a:prstGeom>
                <a:ln w="13970" cap="rnd">
                  <a:solidFill>
                    <a:srgbClr val="66737D"/>
                  </a:solidFill>
                </a:ln>
              </p:spPr>
            </p:cxnSp>
            <p:cxnSp>
              <p:nvCxnSpPr>
                <p:cNvPr id="89" name="B/A0/Chip/PinR0"/>
                <p:cNvCxnSpPr/>
                <p:nvPr/>
              </p:nvCxnSpPr>
              <p:spPr>
                <a:xfrm>
                  <a:off x="8161568" y="2249424"/>
                  <a:ext cx="46635" cy="0"/>
                </a:xfrm>
                <a:prstGeom prst="line">
                  <a:avLst/>
                </a:prstGeom>
                <a:ln w="13970" cap="rnd">
                  <a:solidFill>
                    <a:srgbClr val="66737D"/>
                  </a:solidFill>
                </a:ln>
              </p:spPr>
            </p:cxnSp>
            <p:cxnSp>
              <p:nvCxnSpPr>
                <p:cNvPr id="90" name="B/A0/Chip/PinT0"/>
                <p:cNvCxnSpPr/>
                <p:nvPr/>
              </p:nvCxnSpPr>
              <p:spPr>
                <a:xfrm>
                  <a:off x="8055864" y="2097084"/>
                  <a:ext cx="0" cy="46635"/>
                </a:xfrm>
                <a:prstGeom prst="line">
                  <a:avLst/>
                </a:prstGeom>
                <a:ln w="13970" cap="rnd">
                  <a:solidFill>
                    <a:srgbClr val="66737D"/>
                  </a:solidFill>
                </a:ln>
              </p:spPr>
            </p:cxnSp>
            <p:cxnSp>
              <p:nvCxnSpPr>
                <p:cNvPr id="91" name="B/A0/Chip/PinB0"/>
                <p:cNvCxnSpPr/>
                <p:nvPr/>
              </p:nvCxnSpPr>
              <p:spPr>
                <a:xfrm>
                  <a:off x="8055864" y="2355128"/>
                  <a:ext cx="0" cy="46635"/>
                </a:xfrm>
                <a:prstGeom prst="line">
                  <a:avLst/>
                </a:prstGeom>
                <a:ln w="13970" cap="rnd">
                  <a:solidFill>
                    <a:srgbClr val="66737D"/>
                  </a:solidFill>
                </a:ln>
              </p:spPr>
            </p:cxnSp>
            <p:cxnSp>
              <p:nvCxnSpPr>
                <p:cNvPr id="92" name="B/A0/Chip/PinL0.2"/>
                <p:cNvCxnSpPr/>
                <p:nvPr/>
              </p:nvCxnSpPr>
              <p:spPr>
                <a:xfrm>
                  <a:off x="7903524" y="2311603"/>
                  <a:ext cx="46635" cy="0"/>
                </a:xfrm>
                <a:prstGeom prst="line">
                  <a:avLst/>
                </a:prstGeom>
                <a:ln w="13970" cap="rnd">
                  <a:solidFill>
                    <a:srgbClr val="66737D"/>
                  </a:solidFill>
                </a:ln>
              </p:spPr>
            </p:cxnSp>
            <p:cxnSp>
              <p:nvCxnSpPr>
                <p:cNvPr id="93" name="B/A0/Chip/PinR0.2"/>
                <p:cNvCxnSpPr/>
                <p:nvPr/>
              </p:nvCxnSpPr>
              <p:spPr>
                <a:xfrm>
                  <a:off x="8161568" y="2311603"/>
                  <a:ext cx="46635" cy="0"/>
                </a:xfrm>
                <a:prstGeom prst="line">
                  <a:avLst/>
                </a:prstGeom>
                <a:ln w="13970" cap="rnd">
                  <a:solidFill>
                    <a:srgbClr val="66737D"/>
                  </a:solidFill>
                </a:ln>
              </p:spPr>
            </p:cxnSp>
            <p:cxnSp>
              <p:nvCxnSpPr>
                <p:cNvPr id="94" name="B/A0/Chip/PinT0.2"/>
                <p:cNvCxnSpPr/>
                <p:nvPr/>
              </p:nvCxnSpPr>
              <p:spPr>
                <a:xfrm>
                  <a:off x="8118043" y="2097084"/>
                  <a:ext cx="0" cy="46635"/>
                </a:xfrm>
                <a:prstGeom prst="line">
                  <a:avLst/>
                </a:prstGeom>
                <a:ln w="13970" cap="rnd">
                  <a:solidFill>
                    <a:srgbClr val="66737D"/>
                  </a:solidFill>
                </a:ln>
              </p:spPr>
            </p:cxnSp>
            <p:cxnSp>
              <p:nvCxnSpPr>
                <p:cNvPr id="95" name="B/A0/Chip/PinB0.2"/>
                <p:cNvCxnSpPr/>
                <p:nvPr/>
              </p:nvCxnSpPr>
              <p:spPr>
                <a:xfrm>
                  <a:off x="8118043" y="2355128"/>
                  <a:ext cx="0" cy="46635"/>
                </a:xfrm>
                <a:prstGeom prst="line">
                  <a:avLst/>
                </a:prstGeom>
                <a:ln w="13970" cap="rnd">
                  <a:solidFill>
                    <a:srgbClr val="66737D"/>
                  </a:solidFill>
                </a:ln>
              </p:spPr>
            </p:cxnSp>
            <p:sp>
              <p:nvSpPr>
                <p:cNvPr id="96" name="B/A0/Chip/Trace1"/>
                <p:cNvSpPr/>
                <p:nvPr/>
              </p:nvSpPr>
              <p:spPr>
                <a:xfrm>
                  <a:off x="8003011" y="2209007"/>
                  <a:ext cx="99487" cy="71506"/>
                </a:xfrm>
                <a:custGeom>
                  <a:avLst/>
                  <a:gdLst/>
                  <a:ahLst/>
                  <a:cxnLst/>
                  <a:rect l="l" t="t" r="r" b="b"/>
                  <a:pathLst>
                    <a:path w="99487" h="71506">
                      <a:moveTo>
                        <a:pt x="0" y="0"/>
                      </a:moveTo>
                      <a:lnTo>
                        <a:pt x="52853" y="0"/>
                      </a:lnTo>
                      <a:lnTo>
                        <a:pt x="52853" y="71506"/>
                      </a:lnTo>
                      <a:lnTo>
                        <a:pt x="99487" y="71506"/>
                      </a:lnTo>
                    </a:path>
                  </a:pathLst>
                </a:custGeom>
                <a:noFill/>
                <a:ln w="12700" cap="rnd">
                  <a:solidFill>
                    <a:srgbClr val="66737D"/>
                  </a:solidFill>
                  <a:round/>
                </a:ln>
                <a:effectLst/>
              </p:spPr>
              <p:txBody>
                <a:bodyPr rtlCol="0" anchor="ctr"/>
                <a:lstStyle/>
                <a:p>
                  <a:pPr algn="ctr"/>
                </a:p>
              </p:txBody>
            </p:sp>
            <p:sp>
              <p:nvSpPr>
                <p:cNvPr id="97" name="B/A0/Chip/Trace2"/>
                <p:cNvSpPr/>
                <p:nvPr/>
              </p:nvSpPr>
              <p:spPr>
                <a:xfrm>
                  <a:off x="8006120" y="2255641"/>
                  <a:ext cx="27981" cy="40417"/>
                </a:xfrm>
                <a:custGeom>
                  <a:avLst/>
                  <a:gdLst/>
                  <a:ahLst/>
                  <a:cxnLst/>
                  <a:rect l="l" t="t" r="r" b="b"/>
                  <a:pathLst>
                    <a:path w="27981" h="40417">
                      <a:moveTo>
                        <a:pt x="0" y="40417"/>
                      </a:moveTo>
                      <a:lnTo>
                        <a:pt x="27981" y="40417"/>
                      </a:lnTo>
                      <a:lnTo>
                        <a:pt x="27981" y="0"/>
                      </a:lnTo>
                    </a:path>
                  </a:pathLst>
                </a:custGeom>
                <a:noFill/>
                <a:ln w="12700" cap="rnd">
                  <a:solidFill>
                    <a:srgbClr val="66737D"/>
                  </a:solidFill>
                  <a:round/>
                </a:ln>
                <a:effectLst/>
              </p:spPr>
              <p:txBody>
                <a:bodyPr rtlCol="0" anchor="ctr"/>
                <a:lstStyle/>
                <a:p>
                  <a:pPr algn="ctr"/>
                </a:p>
              </p:txBody>
            </p:sp>
          </p:grpSp>
          <p:sp>
            <p:nvSpPr>
              <p:cNvPr id="98" name="B/A0/Model"/>
              <p:cNvSpPr txBox="1"/>
              <p:nvPr/>
            </p:nvSpPr>
            <p:spPr>
              <a:xfrm>
                <a:off x="8257031" y="2029967"/>
                <a:ext cx="365760" cy="438912"/>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66737D"/>
                    </a:solidFill>
                    <a:latin typeface="Times New Roman"/>
                    <a:ea typeface="Times New Roman"/>
                    <a:cs typeface="Times New Roman"/>
                  </a:rPr>
                  <a:t>M</a:t>
                </a:r>
              </a:p>
            </p:txBody>
          </p:sp>
          <p:cxnSp>
            <p:nvCxnSpPr>
              <p:cNvPr id="99" name="B/A0/ModelToAnswer"/>
              <p:cNvCxnSpPr/>
              <p:nvPr/>
            </p:nvCxnSpPr>
            <p:spPr>
              <a:xfrm>
                <a:off x="8769096" y="2249424"/>
                <a:ext cx="365760" cy="0"/>
              </a:xfrm>
              <a:prstGeom prst="line">
                <a:avLst/>
              </a:prstGeom>
              <a:ln w="19050" cap="rnd">
                <a:solidFill>
                  <a:srgbClr val="66737D"/>
                </a:solidFill>
                <a:tailEnd type="triangle" w="sm" len="sm"/>
              </a:ln>
            </p:spPr>
          </p:cxnSp>
          <p:sp>
            <p:nvSpPr>
              <p:cNvPr id="100" name="B/A0/Output/Plate"/>
              <p:cNvSpPr/>
              <p:nvPr/>
            </p:nvSpPr>
            <p:spPr>
              <a:xfrm>
                <a:off x="9189720" y="1965960"/>
                <a:ext cx="905256" cy="566928"/>
              </a:xfrm>
              <a:prstGeom prst="roundRect">
                <a:avLst>
                  <a:gd name="adj" fmla="val 11290"/>
                </a:avLst>
              </a:prstGeom>
              <a:solidFill>
                <a:srgbClr val="F1F4F6"/>
              </a:solidFill>
              <a:ln w="14604">
                <a:solidFill>
                  <a:srgbClr val="66737D"/>
                </a:solidFill>
              </a:ln>
              <a:effectLst/>
            </p:spPr>
            <p:txBody>
              <a:bodyPr rtlCol="0" anchor="ctr"/>
              <a:lstStyle/>
              <a:p>
                <a:pPr algn="ctr"/>
              </a:p>
            </p:txBody>
          </p:sp>
          <p:sp>
            <p:nvSpPr>
              <p:cNvPr id="101" name="B/A0/Output/Symbol"/>
              <p:cNvSpPr txBox="1"/>
              <p:nvPr/>
            </p:nvSpPr>
            <p:spPr>
              <a:xfrm>
                <a:off x="9198864" y="1965960"/>
                <a:ext cx="886968" cy="548640"/>
              </a:xfrm>
              <a:prstGeom prst="rect">
                <a:avLst/>
              </a:prstGeom>
              <a:noFill/>
            </p:spPr>
            <p:txBody>
              <a:bodyPr wrap="none" lIns="0" rIns="0" tIns="0" bIns="0" anchor="ctr">
                <a:noAutofit/>
              </a:bodyPr>
              <a:lstStyle/>
              <a:p>
                <a:pPr algn="ctr">
                  <a:lnSpc>
                    <a:spcPct val="103000"/>
                  </a:lnSpc>
                  <a:spcBef>
                    <a:spcPts val="0"/>
                  </a:spcBef>
                  <a:spcAft>
                    <a:spcPts val="0"/>
                  </a:spcAft>
                </a:pPr>
                <a:r>
                  <a:rPr sz="2500" b="0" i="1" lang="en-US" dirty="0">
                    <a:solidFill>
                      <a:srgbClr val="66737D"/>
                    </a:solidFill>
                    <a:latin typeface="Times New Roman"/>
                    <a:ea typeface="Times New Roman"/>
                    <a:cs typeface="Times New Roman"/>
                  </a:rPr>
                  <a:t>Y</a:t>
                </a:r>
                <a:r>
                  <a:rPr sz="3100" b="0" i="0" lang="en-US" dirty="0" baseline="-20000">
                    <a:solidFill>
                      <a:srgbClr val="66737D"/>
                    </a:solidFill>
                    <a:latin typeface="Times New Roman"/>
                    <a:ea typeface="Times New Roman"/>
                    <a:cs typeface="Times New Roman"/>
                  </a:rPr>
                  <a:t>2</a:t>
                </a:r>
                <a:r>
                  <a:rPr sz="3100" b="0" i="0" lang="en-US" dirty="0" baseline="33000">
                    <a:solidFill>
                      <a:srgbClr val="66737D"/>
                    </a:solidFill>
                    <a:latin typeface="Times New Roman"/>
                    <a:ea typeface="Times New Roman"/>
                    <a:cs typeface="Times New Roman"/>
                  </a:rPr>
                  <a:t>(0)</a:t>
                </a:r>
              </a:p>
            </p:txBody>
          </p:sp>
        </p:grpSp>
        <p:grpSp>
          <p:nvGrpSpPr>
            <p:cNvPr id="102" name="B/A1 | Anonymous source"/>
            <p:cNvGrpSpPr/>
            <p:nvPr/>
          </p:nvGrpSpPr>
          <p:grpSpPr>
            <a:xfrm>
              <a:off x="3529584" y="2880360"/>
              <a:ext cx="6565392" cy="1097280"/>
              <a:chOff x="3529584" y="2880360"/>
              <a:chExt cx="6565392" cy="1097280"/>
            </a:xfrm>
          </p:grpSpPr>
          <p:sp>
            <p:nvSpPr>
              <p:cNvPr id="103" name="B/A1/Prompt"/>
              <p:cNvSpPr/>
              <p:nvPr/>
            </p:nvSpPr>
            <p:spPr>
              <a:xfrm>
                <a:off x="3529584" y="2880360"/>
                <a:ext cx="4032504" cy="1097280"/>
              </a:xfrm>
              <a:prstGeom prst="roundRect">
                <a:avLst>
                  <a:gd name="adj" fmla="val 7500"/>
                </a:avLst>
              </a:prstGeom>
              <a:solidFill>
                <a:srgbClr val="ECF4FC"/>
              </a:solidFill>
              <a:ln w="14604">
                <a:solidFill>
                  <a:srgbClr val="86ACCF"/>
                </a:solidFill>
              </a:ln>
              <a:effectLst/>
            </p:spPr>
            <p:txBody>
              <a:bodyPr rtlCol="0" anchor="ctr"/>
              <a:lstStyle/>
              <a:p>
                <a:pPr algn="ctr"/>
              </a:p>
            </p:txBody>
          </p:sp>
          <p:sp>
            <p:nvSpPr>
              <p:cNvPr id="104" name="B/A1/Badge/Plate"/>
              <p:cNvSpPr/>
              <p:nvPr/>
            </p:nvSpPr>
            <p:spPr>
              <a:xfrm>
                <a:off x="3685032" y="3008376"/>
                <a:ext cx="493776" cy="384048"/>
              </a:xfrm>
              <a:prstGeom prst="roundRect">
                <a:avLst>
                  <a:gd name="adj" fmla="val 13095"/>
                </a:avLst>
              </a:prstGeom>
              <a:solidFill>
                <a:srgbClr val="FFFFFF"/>
              </a:solidFill>
              <a:ln w="12700">
                <a:solidFill>
                  <a:srgbClr val="2768A5"/>
                </a:solidFill>
              </a:ln>
              <a:effectLst/>
            </p:spPr>
            <p:txBody>
              <a:bodyPr rtlCol="0" anchor="ctr"/>
              <a:lstStyle/>
              <a:p>
                <a:pPr algn="ctr"/>
              </a:p>
            </p:txBody>
          </p:sp>
          <p:sp>
            <p:nvSpPr>
              <p:cNvPr id="105" name="B/A1/Badge/Text"/>
              <p:cNvSpPr txBox="1"/>
              <p:nvPr/>
            </p:nvSpPr>
            <p:spPr>
              <a:xfrm>
                <a:off x="3703320" y="3008376"/>
                <a:ext cx="457200" cy="374904"/>
              </a:xfrm>
              <a:prstGeom prst="rect">
                <a:avLst/>
              </a:prstGeom>
              <a:noFill/>
            </p:spPr>
            <p:txBody>
              <a:bodyPr wrap="none" lIns="0" rIns="0" tIns="0" bIns="0" anchor="ctr">
                <a:noAutofit/>
              </a:bodyPr>
              <a:lstStyle/>
              <a:p>
                <a:pPr algn="ctr">
                  <a:lnSpc>
                    <a:spcPct val="103000"/>
                  </a:lnSpc>
                  <a:spcBef>
                    <a:spcPts val="0"/>
                  </a:spcBef>
                  <a:spcAft>
                    <a:spcPts val="0"/>
                  </a:spcAft>
                </a:pPr>
                <a:r>
                  <a:rPr sz="2300" b="0" i="0" lang="en-US" dirty="0">
                    <a:solidFill>
                      <a:srgbClr val="2768A5"/>
                    </a:solidFill>
                    <a:latin typeface="Times New Roman"/>
                    <a:ea typeface="Times New Roman"/>
                    <a:cs typeface="Times New Roman"/>
                  </a:rPr>
                  <a:t>A₁</a:t>
                </a:r>
              </a:p>
            </p:txBody>
          </p:sp>
          <p:sp>
            <p:nvSpPr>
              <p:cNvPr id="106" name="B/A1/Title"/>
              <p:cNvSpPr txBox="1"/>
              <p:nvPr/>
            </p:nvSpPr>
            <p:spPr>
              <a:xfrm>
                <a:off x="4315968" y="2990088"/>
                <a:ext cx="3127248" cy="36576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768A5"/>
                    </a:solidFill>
                    <a:latin typeface="Arial"/>
                    <a:ea typeface="Arial"/>
                    <a:cs typeface="Arial"/>
                  </a:rPr>
                  <a:t>Anonymous source</a:t>
                </a:r>
              </a:p>
            </p:txBody>
          </p:sp>
          <p:sp>
            <p:nvSpPr>
              <p:cNvPr id="107" name="B/A1/Source"/>
              <p:cNvSpPr txBox="1"/>
              <p:nvPr/>
            </p:nvSpPr>
            <p:spPr>
              <a:xfrm>
                <a:off x="3694176" y="3374136"/>
                <a:ext cx="3694176" cy="256032"/>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Another assistant</a:t>
                </a:r>
              </a:p>
            </p:txBody>
          </p:sp>
          <p:sp>
            <p:nvSpPr>
              <p:cNvPr id="108" name="B/A1/Answer"/>
              <p:cNvSpPr txBox="1"/>
              <p:nvPr/>
            </p:nvSpPr>
            <p:spPr>
              <a:xfrm>
                <a:off x="3694176" y="3648456"/>
                <a:ext cx="3694176" cy="23774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Answer: </a:t>
                </a:r>
                <a:r>
                  <a:rPr sz="2200" b="1" i="1" lang="en-US" dirty="0">
                    <a:solidFill>
                      <a:srgbClr val="203346"/>
                    </a:solidFill>
                    <a:latin typeface="Times New Roman"/>
                    <a:ea typeface="Times New Roman"/>
                    <a:cs typeface="Times New Roman"/>
                  </a:rPr>
                  <a:t>opposite(Y₁)</a:t>
                </a:r>
              </a:p>
            </p:txBody>
          </p:sp>
          <p:cxnSp>
            <p:nvCxnSpPr>
              <p:cNvPr id="109" name="B/A1/PromptToModel"/>
              <p:cNvCxnSpPr/>
              <p:nvPr/>
            </p:nvCxnSpPr>
            <p:spPr>
              <a:xfrm>
                <a:off x="7580375" y="3429000"/>
                <a:ext cx="210313" cy="0"/>
              </a:xfrm>
              <a:prstGeom prst="line">
                <a:avLst/>
              </a:prstGeom>
              <a:ln w="19050" cap="rnd">
                <a:solidFill>
                  <a:srgbClr val="2768A5"/>
                </a:solidFill>
                <a:tailEnd type="triangle" w="sm" len="sm"/>
              </a:ln>
            </p:spPr>
          </p:cxnSp>
          <p:sp>
            <p:nvSpPr>
              <p:cNvPr id="110" name="B/A1/SameModel"/>
              <p:cNvSpPr/>
              <p:nvPr/>
            </p:nvSpPr>
            <p:spPr>
              <a:xfrm>
                <a:off x="7836408" y="3118104"/>
                <a:ext cx="914400" cy="621792"/>
              </a:xfrm>
              <a:prstGeom prst="roundRect">
                <a:avLst>
                  <a:gd name="adj" fmla="val 11764"/>
                </a:avLst>
              </a:prstGeom>
              <a:solidFill>
                <a:srgbClr val="FFFFFF"/>
              </a:solidFill>
              <a:ln w="15240">
                <a:solidFill>
                  <a:srgbClr val="86ACCF"/>
                </a:solidFill>
              </a:ln>
              <a:effectLst/>
            </p:spPr>
            <p:txBody>
              <a:bodyPr rtlCol="0" anchor="ctr"/>
              <a:lstStyle/>
              <a:p>
                <a:pPr algn="ctr"/>
              </a:p>
            </p:txBody>
          </p:sp>
          <p:grpSp>
            <p:nvGrpSpPr>
              <p:cNvPr id="111" name="B/A1/Chip"/>
              <p:cNvGrpSpPr/>
              <p:nvPr/>
            </p:nvGrpSpPr>
            <p:grpSpPr>
              <a:xfrm>
                <a:off x="7903524" y="3276660"/>
                <a:ext cx="304679" cy="304679"/>
                <a:chOff x="7903524" y="3276660"/>
                <a:chExt cx="304679" cy="304679"/>
              </a:xfrm>
            </p:grpSpPr>
            <p:sp>
              <p:nvSpPr>
                <p:cNvPr id="112" name="B/A1/Chip/Core"/>
                <p:cNvSpPr/>
                <p:nvPr/>
              </p:nvSpPr>
              <p:spPr>
                <a:xfrm>
                  <a:off x="7956377" y="3329513"/>
                  <a:ext cx="198973" cy="198973"/>
                </a:xfrm>
                <a:prstGeom prst="roundRect">
                  <a:avLst>
                    <a:gd name="adj" fmla="val 20680"/>
                  </a:avLst>
                </a:prstGeom>
                <a:solidFill>
                  <a:srgbClr val="FFFFFF"/>
                </a:solidFill>
                <a:ln w="17145">
                  <a:solidFill>
                    <a:srgbClr val="2768A5"/>
                  </a:solidFill>
                </a:ln>
                <a:effectLst/>
              </p:spPr>
              <p:txBody>
                <a:bodyPr rtlCol="0" anchor="ctr"/>
                <a:lstStyle/>
                <a:p>
                  <a:pPr algn="ctr"/>
                </a:p>
              </p:txBody>
            </p:sp>
            <p:cxnSp>
              <p:nvCxnSpPr>
                <p:cNvPr id="113" name="B/A1/Chip/PinL-0.2"/>
                <p:cNvCxnSpPr/>
                <p:nvPr/>
              </p:nvCxnSpPr>
              <p:spPr>
                <a:xfrm>
                  <a:off x="7903524" y="3366820"/>
                  <a:ext cx="46635" cy="0"/>
                </a:xfrm>
                <a:prstGeom prst="line">
                  <a:avLst/>
                </a:prstGeom>
                <a:ln w="13970" cap="rnd">
                  <a:solidFill>
                    <a:srgbClr val="2768A5"/>
                  </a:solidFill>
                </a:ln>
              </p:spPr>
            </p:cxnSp>
            <p:cxnSp>
              <p:nvCxnSpPr>
                <p:cNvPr id="114" name="B/A1/Chip/PinR-0.2"/>
                <p:cNvCxnSpPr/>
                <p:nvPr/>
              </p:nvCxnSpPr>
              <p:spPr>
                <a:xfrm>
                  <a:off x="8161568" y="3366820"/>
                  <a:ext cx="46635" cy="0"/>
                </a:xfrm>
                <a:prstGeom prst="line">
                  <a:avLst/>
                </a:prstGeom>
                <a:ln w="13970" cap="rnd">
                  <a:solidFill>
                    <a:srgbClr val="2768A5"/>
                  </a:solidFill>
                </a:ln>
              </p:spPr>
            </p:cxnSp>
            <p:cxnSp>
              <p:nvCxnSpPr>
                <p:cNvPr id="115" name="B/A1/Chip/PinT-0.2"/>
                <p:cNvCxnSpPr/>
                <p:nvPr/>
              </p:nvCxnSpPr>
              <p:spPr>
                <a:xfrm>
                  <a:off x="7993684" y="3276660"/>
                  <a:ext cx="0" cy="46635"/>
                </a:xfrm>
                <a:prstGeom prst="line">
                  <a:avLst/>
                </a:prstGeom>
                <a:ln w="13970" cap="rnd">
                  <a:solidFill>
                    <a:srgbClr val="2768A5"/>
                  </a:solidFill>
                </a:ln>
              </p:spPr>
            </p:cxnSp>
            <p:cxnSp>
              <p:nvCxnSpPr>
                <p:cNvPr id="116" name="B/A1/Chip/PinB-0.2"/>
                <p:cNvCxnSpPr/>
                <p:nvPr/>
              </p:nvCxnSpPr>
              <p:spPr>
                <a:xfrm>
                  <a:off x="7993684" y="3534704"/>
                  <a:ext cx="0" cy="46635"/>
                </a:xfrm>
                <a:prstGeom prst="line">
                  <a:avLst/>
                </a:prstGeom>
                <a:ln w="13970" cap="rnd">
                  <a:solidFill>
                    <a:srgbClr val="2768A5"/>
                  </a:solidFill>
                </a:ln>
              </p:spPr>
            </p:cxnSp>
            <p:cxnSp>
              <p:nvCxnSpPr>
                <p:cNvPr id="117" name="B/A1/Chip/PinL0"/>
                <p:cNvCxnSpPr/>
                <p:nvPr/>
              </p:nvCxnSpPr>
              <p:spPr>
                <a:xfrm>
                  <a:off x="7903524" y="3429000"/>
                  <a:ext cx="46635" cy="0"/>
                </a:xfrm>
                <a:prstGeom prst="line">
                  <a:avLst/>
                </a:prstGeom>
                <a:ln w="13970" cap="rnd">
                  <a:solidFill>
                    <a:srgbClr val="2768A5"/>
                  </a:solidFill>
                </a:ln>
              </p:spPr>
            </p:cxnSp>
            <p:cxnSp>
              <p:nvCxnSpPr>
                <p:cNvPr id="118" name="B/A1/Chip/PinR0"/>
                <p:cNvCxnSpPr/>
                <p:nvPr/>
              </p:nvCxnSpPr>
              <p:spPr>
                <a:xfrm>
                  <a:off x="8161568" y="3429000"/>
                  <a:ext cx="46635" cy="0"/>
                </a:xfrm>
                <a:prstGeom prst="line">
                  <a:avLst/>
                </a:prstGeom>
                <a:ln w="13970" cap="rnd">
                  <a:solidFill>
                    <a:srgbClr val="2768A5"/>
                  </a:solidFill>
                </a:ln>
              </p:spPr>
            </p:cxnSp>
            <p:cxnSp>
              <p:nvCxnSpPr>
                <p:cNvPr id="119" name="B/A1/Chip/PinT0"/>
                <p:cNvCxnSpPr/>
                <p:nvPr/>
              </p:nvCxnSpPr>
              <p:spPr>
                <a:xfrm>
                  <a:off x="8055864" y="3276660"/>
                  <a:ext cx="0" cy="46635"/>
                </a:xfrm>
                <a:prstGeom prst="line">
                  <a:avLst/>
                </a:prstGeom>
                <a:ln w="13970" cap="rnd">
                  <a:solidFill>
                    <a:srgbClr val="2768A5"/>
                  </a:solidFill>
                </a:ln>
              </p:spPr>
            </p:cxnSp>
            <p:cxnSp>
              <p:nvCxnSpPr>
                <p:cNvPr id="120" name="B/A1/Chip/PinB0"/>
                <p:cNvCxnSpPr/>
                <p:nvPr/>
              </p:nvCxnSpPr>
              <p:spPr>
                <a:xfrm>
                  <a:off x="8055864" y="3534704"/>
                  <a:ext cx="0" cy="46635"/>
                </a:xfrm>
                <a:prstGeom prst="line">
                  <a:avLst/>
                </a:prstGeom>
                <a:ln w="13970" cap="rnd">
                  <a:solidFill>
                    <a:srgbClr val="2768A5"/>
                  </a:solidFill>
                </a:ln>
              </p:spPr>
            </p:cxnSp>
            <p:cxnSp>
              <p:nvCxnSpPr>
                <p:cNvPr id="121" name="B/A1/Chip/PinL0.2"/>
                <p:cNvCxnSpPr/>
                <p:nvPr/>
              </p:nvCxnSpPr>
              <p:spPr>
                <a:xfrm>
                  <a:off x="7903524" y="3491179"/>
                  <a:ext cx="46635" cy="0"/>
                </a:xfrm>
                <a:prstGeom prst="line">
                  <a:avLst/>
                </a:prstGeom>
                <a:ln w="13970" cap="rnd">
                  <a:solidFill>
                    <a:srgbClr val="2768A5"/>
                  </a:solidFill>
                </a:ln>
              </p:spPr>
            </p:cxnSp>
            <p:cxnSp>
              <p:nvCxnSpPr>
                <p:cNvPr id="122" name="B/A1/Chip/PinR0.2"/>
                <p:cNvCxnSpPr/>
                <p:nvPr/>
              </p:nvCxnSpPr>
              <p:spPr>
                <a:xfrm>
                  <a:off x="8161568" y="3491179"/>
                  <a:ext cx="46635" cy="0"/>
                </a:xfrm>
                <a:prstGeom prst="line">
                  <a:avLst/>
                </a:prstGeom>
                <a:ln w="13970" cap="rnd">
                  <a:solidFill>
                    <a:srgbClr val="2768A5"/>
                  </a:solidFill>
                </a:ln>
              </p:spPr>
            </p:cxnSp>
            <p:cxnSp>
              <p:nvCxnSpPr>
                <p:cNvPr id="123" name="B/A1/Chip/PinT0.2"/>
                <p:cNvCxnSpPr/>
                <p:nvPr/>
              </p:nvCxnSpPr>
              <p:spPr>
                <a:xfrm>
                  <a:off x="8118043" y="3276660"/>
                  <a:ext cx="0" cy="46635"/>
                </a:xfrm>
                <a:prstGeom prst="line">
                  <a:avLst/>
                </a:prstGeom>
                <a:ln w="13970" cap="rnd">
                  <a:solidFill>
                    <a:srgbClr val="2768A5"/>
                  </a:solidFill>
                </a:ln>
              </p:spPr>
            </p:cxnSp>
            <p:cxnSp>
              <p:nvCxnSpPr>
                <p:cNvPr id="124" name="B/A1/Chip/PinB0.2"/>
                <p:cNvCxnSpPr/>
                <p:nvPr/>
              </p:nvCxnSpPr>
              <p:spPr>
                <a:xfrm>
                  <a:off x="8118043" y="3534704"/>
                  <a:ext cx="0" cy="46635"/>
                </a:xfrm>
                <a:prstGeom prst="line">
                  <a:avLst/>
                </a:prstGeom>
                <a:ln w="13970" cap="rnd">
                  <a:solidFill>
                    <a:srgbClr val="2768A5"/>
                  </a:solidFill>
                </a:ln>
              </p:spPr>
            </p:cxnSp>
            <p:sp>
              <p:nvSpPr>
                <p:cNvPr id="125" name="B/A1/Chip/Trace1"/>
                <p:cNvSpPr/>
                <p:nvPr/>
              </p:nvSpPr>
              <p:spPr>
                <a:xfrm>
                  <a:off x="8003011" y="3388583"/>
                  <a:ext cx="99487" cy="71506"/>
                </a:xfrm>
                <a:custGeom>
                  <a:avLst/>
                  <a:gdLst/>
                  <a:ahLst/>
                  <a:cxnLst/>
                  <a:rect l="l" t="t" r="r" b="b"/>
                  <a:pathLst>
                    <a:path w="99487" h="71506">
                      <a:moveTo>
                        <a:pt x="0" y="0"/>
                      </a:moveTo>
                      <a:lnTo>
                        <a:pt x="52853" y="0"/>
                      </a:lnTo>
                      <a:lnTo>
                        <a:pt x="52853" y="71506"/>
                      </a:lnTo>
                      <a:lnTo>
                        <a:pt x="99487" y="71506"/>
                      </a:lnTo>
                    </a:path>
                  </a:pathLst>
                </a:custGeom>
                <a:noFill/>
                <a:ln w="12700" cap="rnd">
                  <a:solidFill>
                    <a:srgbClr val="2768A5"/>
                  </a:solidFill>
                  <a:round/>
                </a:ln>
                <a:effectLst/>
              </p:spPr>
              <p:txBody>
                <a:bodyPr rtlCol="0" anchor="ctr"/>
                <a:lstStyle/>
                <a:p>
                  <a:pPr algn="ctr"/>
                </a:p>
              </p:txBody>
            </p:sp>
            <p:sp>
              <p:nvSpPr>
                <p:cNvPr id="126" name="B/A1/Chip/Trace2"/>
                <p:cNvSpPr/>
                <p:nvPr/>
              </p:nvSpPr>
              <p:spPr>
                <a:xfrm>
                  <a:off x="8006120" y="3435217"/>
                  <a:ext cx="27981" cy="40417"/>
                </a:xfrm>
                <a:custGeom>
                  <a:avLst/>
                  <a:gdLst/>
                  <a:ahLst/>
                  <a:cxnLst/>
                  <a:rect l="l" t="t" r="r" b="b"/>
                  <a:pathLst>
                    <a:path w="27981" h="40417">
                      <a:moveTo>
                        <a:pt x="0" y="40417"/>
                      </a:moveTo>
                      <a:lnTo>
                        <a:pt x="27981" y="40417"/>
                      </a:lnTo>
                      <a:lnTo>
                        <a:pt x="27981" y="0"/>
                      </a:lnTo>
                    </a:path>
                  </a:pathLst>
                </a:custGeom>
                <a:noFill/>
                <a:ln w="12700" cap="rnd">
                  <a:solidFill>
                    <a:srgbClr val="2768A5"/>
                  </a:solidFill>
                  <a:round/>
                </a:ln>
                <a:effectLst/>
              </p:spPr>
              <p:txBody>
                <a:bodyPr rtlCol="0" anchor="ctr"/>
                <a:lstStyle/>
                <a:p>
                  <a:pPr algn="ctr"/>
                </a:p>
              </p:txBody>
            </p:sp>
          </p:grpSp>
          <p:sp>
            <p:nvSpPr>
              <p:cNvPr id="127" name="B/A1/Model"/>
              <p:cNvSpPr txBox="1"/>
              <p:nvPr/>
            </p:nvSpPr>
            <p:spPr>
              <a:xfrm>
                <a:off x="8257031" y="3209544"/>
                <a:ext cx="365760" cy="438912"/>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2768A5"/>
                    </a:solidFill>
                    <a:latin typeface="Times New Roman"/>
                    <a:ea typeface="Times New Roman"/>
                    <a:cs typeface="Times New Roman"/>
                  </a:rPr>
                  <a:t>M</a:t>
                </a:r>
              </a:p>
            </p:txBody>
          </p:sp>
          <p:cxnSp>
            <p:nvCxnSpPr>
              <p:cNvPr id="128" name="B/A1/ModelToAnswer"/>
              <p:cNvCxnSpPr/>
              <p:nvPr/>
            </p:nvCxnSpPr>
            <p:spPr>
              <a:xfrm>
                <a:off x="8769096" y="3429000"/>
                <a:ext cx="365760" cy="0"/>
              </a:xfrm>
              <a:prstGeom prst="line">
                <a:avLst/>
              </a:prstGeom>
              <a:ln w="19050" cap="rnd">
                <a:solidFill>
                  <a:srgbClr val="2768A5"/>
                </a:solidFill>
                <a:tailEnd type="triangle" w="sm" len="sm"/>
              </a:ln>
            </p:spPr>
          </p:cxnSp>
          <p:sp>
            <p:nvSpPr>
              <p:cNvPr id="129" name="B/A1/Output/Plate"/>
              <p:cNvSpPr/>
              <p:nvPr/>
            </p:nvSpPr>
            <p:spPr>
              <a:xfrm>
                <a:off x="9189720" y="3145536"/>
                <a:ext cx="905256" cy="566928"/>
              </a:xfrm>
              <a:prstGeom prst="roundRect">
                <a:avLst>
                  <a:gd name="adj" fmla="val 11290"/>
                </a:avLst>
              </a:prstGeom>
              <a:solidFill>
                <a:srgbClr val="ECF4FC"/>
              </a:solidFill>
              <a:ln w="14604">
                <a:solidFill>
                  <a:srgbClr val="2768A5"/>
                </a:solidFill>
              </a:ln>
              <a:effectLst/>
            </p:spPr>
            <p:txBody>
              <a:bodyPr rtlCol="0" anchor="ctr"/>
              <a:lstStyle/>
              <a:p>
                <a:pPr algn="ctr"/>
              </a:p>
            </p:txBody>
          </p:sp>
          <p:sp>
            <p:nvSpPr>
              <p:cNvPr id="130" name="B/A1/Output/Symbol"/>
              <p:cNvSpPr txBox="1"/>
              <p:nvPr/>
            </p:nvSpPr>
            <p:spPr>
              <a:xfrm>
                <a:off x="9198864" y="3145536"/>
                <a:ext cx="886968" cy="548640"/>
              </a:xfrm>
              <a:prstGeom prst="rect">
                <a:avLst/>
              </a:prstGeom>
              <a:noFill/>
            </p:spPr>
            <p:txBody>
              <a:bodyPr wrap="none" lIns="0" rIns="0" tIns="0" bIns="0" anchor="ctr">
                <a:noAutofit/>
              </a:bodyPr>
              <a:lstStyle/>
              <a:p>
                <a:pPr algn="ctr">
                  <a:lnSpc>
                    <a:spcPct val="103000"/>
                  </a:lnSpc>
                  <a:spcBef>
                    <a:spcPts val="0"/>
                  </a:spcBef>
                  <a:spcAft>
                    <a:spcPts val="0"/>
                  </a:spcAft>
                </a:pPr>
                <a:r>
                  <a:rPr sz="2500" b="0" i="1" lang="en-US" dirty="0">
                    <a:solidFill>
                      <a:srgbClr val="2768A5"/>
                    </a:solidFill>
                    <a:latin typeface="Times New Roman"/>
                    <a:ea typeface="Times New Roman"/>
                    <a:cs typeface="Times New Roman"/>
                  </a:rPr>
                  <a:t>Y</a:t>
                </a:r>
                <a:r>
                  <a:rPr sz="3100" b="0" i="0" lang="en-US" dirty="0" baseline="-20000">
                    <a:solidFill>
                      <a:srgbClr val="2768A5"/>
                    </a:solidFill>
                    <a:latin typeface="Times New Roman"/>
                    <a:ea typeface="Times New Roman"/>
                    <a:cs typeface="Times New Roman"/>
                  </a:rPr>
                  <a:t>2</a:t>
                </a:r>
                <a:r>
                  <a:rPr sz="3100" b="0" i="0" lang="en-US" dirty="0" baseline="33000">
                    <a:solidFill>
                      <a:srgbClr val="2768A5"/>
                    </a:solidFill>
                    <a:latin typeface="Times New Roman"/>
                    <a:ea typeface="Times New Roman"/>
                    <a:cs typeface="Times New Roman"/>
                  </a:rPr>
                  <a:t>(1)</a:t>
                </a:r>
              </a:p>
            </p:txBody>
          </p:sp>
        </p:grpSp>
        <p:grpSp>
          <p:nvGrpSpPr>
            <p:cNvPr id="131" name="B/A3 | Expert-labeled source"/>
            <p:cNvGrpSpPr/>
            <p:nvPr/>
          </p:nvGrpSpPr>
          <p:grpSpPr>
            <a:xfrm>
              <a:off x="3529584" y="4059936"/>
              <a:ext cx="6565392" cy="1097280"/>
              <a:chOff x="3529584" y="4059936"/>
              <a:chExt cx="6565392" cy="1097280"/>
            </a:xfrm>
          </p:grpSpPr>
          <p:sp>
            <p:nvSpPr>
              <p:cNvPr id="132" name="B/A3/Prompt"/>
              <p:cNvSpPr/>
              <p:nvPr/>
            </p:nvSpPr>
            <p:spPr>
              <a:xfrm>
                <a:off x="3529584" y="4059936"/>
                <a:ext cx="4032504" cy="1097280"/>
              </a:xfrm>
              <a:prstGeom prst="roundRect">
                <a:avLst>
                  <a:gd name="adj" fmla="val 7500"/>
                </a:avLst>
              </a:prstGeom>
              <a:solidFill>
                <a:srgbClr val="FFF0E6"/>
              </a:solidFill>
              <a:ln w="14604">
                <a:solidFill>
                  <a:srgbClr val="DA9975"/>
                </a:solidFill>
              </a:ln>
              <a:effectLst/>
            </p:spPr>
            <p:txBody>
              <a:bodyPr rtlCol="0" anchor="ctr"/>
              <a:lstStyle/>
              <a:p>
                <a:pPr algn="ctr"/>
              </a:p>
            </p:txBody>
          </p:sp>
          <p:sp>
            <p:nvSpPr>
              <p:cNvPr id="133" name="B/A3/Badge/Plate"/>
              <p:cNvSpPr/>
              <p:nvPr/>
            </p:nvSpPr>
            <p:spPr>
              <a:xfrm>
                <a:off x="3685032" y="4187952"/>
                <a:ext cx="493776" cy="384048"/>
              </a:xfrm>
              <a:prstGeom prst="roundRect">
                <a:avLst>
                  <a:gd name="adj" fmla="val 13095"/>
                </a:avLst>
              </a:prstGeom>
              <a:solidFill>
                <a:srgbClr val="FFFFFF"/>
              </a:solidFill>
              <a:ln w="12700">
                <a:solidFill>
                  <a:srgbClr val="B55929"/>
                </a:solidFill>
              </a:ln>
              <a:effectLst/>
            </p:spPr>
            <p:txBody>
              <a:bodyPr rtlCol="0" anchor="ctr"/>
              <a:lstStyle/>
              <a:p>
                <a:pPr algn="ctr"/>
              </a:p>
            </p:txBody>
          </p:sp>
          <p:sp>
            <p:nvSpPr>
              <p:cNvPr id="134" name="B/A3/Badge/Text"/>
              <p:cNvSpPr txBox="1"/>
              <p:nvPr/>
            </p:nvSpPr>
            <p:spPr>
              <a:xfrm>
                <a:off x="3703320" y="4187952"/>
                <a:ext cx="457200" cy="374904"/>
              </a:xfrm>
              <a:prstGeom prst="rect">
                <a:avLst/>
              </a:prstGeom>
              <a:noFill/>
            </p:spPr>
            <p:txBody>
              <a:bodyPr wrap="none" lIns="0" rIns="0" tIns="0" bIns="0" anchor="ctr">
                <a:noAutofit/>
              </a:bodyPr>
              <a:lstStyle/>
              <a:p>
                <a:pPr algn="ctr">
                  <a:lnSpc>
                    <a:spcPct val="103000"/>
                  </a:lnSpc>
                  <a:spcBef>
                    <a:spcPts val="0"/>
                  </a:spcBef>
                  <a:spcAft>
                    <a:spcPts val="0"/>
                  </a:spcAft>
                </a:pPr>
                <a:r>
                  <a:rPr sz="2300" b="0" i="0" lang="en-US" dirty="0">
                    <a:solidFill>
                      <a:srgbClr val="B55929"/>
                    </a:solidFill>
                    <a:latin typeface="Times New Roman"/>
                    <a:ea typeface="Times New Roman"/>
                    <a:cs typeface="Times New Roman"/>
                  </a:rPr>
                  <a:t>A₃</a:t>
                </a:r>
              </a:p>
            </p:txBody>
          </p:sp>
          <p:sp>
            <p:nvSpPr>
              <p:cNvPr id="135" name="B/A3/Title"/>
              <p:cNvSpPr txBox="1"/>
              <p:nvPr/>
            </p:nvSpPr>
            <p:spPr>
              <a:xfrm>
                <a:off x="4315968" y="4169664"/>
                <a:ext cx="3127248" cy="36576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B55929"/>
                    </a:solidFill>
                    <a:latin typeface="Arial"/>
                    <a:ea typeface="Arial"/>
                    <a:cs typeface="Arial"/>
                  </a:rPr>
                  <a:t>Expert-labeled source</a:t>
                </a:r>
              </a:p>
            </p:txBody>
          </p:sp>
          <p:sp>
            <p:nvSpPr>
              <p:cNvPr id="136" name="B/A3/Source"/>
              <p:cNvSpPr txBox="1"/>
              <p:nvPr/>
            </p:nvSpPr>
            <p:spPr>
              <a:xfrm>
                <a:off x="3694176" y="4553712"/>
                <a:ext cx="3694176" cy="256032"/>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Domain-specialized assistant</a:t>
                </a:r>
              </a:p>
            </p:txBody>
          </p:sp>
          <p:sp>
            <p:nvSpPr>
              <p:cNvPr id="137" name="B/A3/Answer"/>
              <p:cNvSpPr txBox="1"/>
              <p:nvPr/>
            </p:nvSpPr>
            <p:spPr>
              <a:xfrm>
                <a:off x="3694176" y="4828032"/>
                <a:ext cx="3694176" cy="23774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203346"/>
                    </a:solidFill>
                    <a:latin typeface="Arial"/>
                    <a:ea typeface="Arial"/>
                    <a:cs typeface="Arial"/>
                  </a:rPr>
                  <a:t>Answer: </a:t>
                </a:r>
                <a:r>
                  <a:rPr sz="2200" b="1" i="1" lang="en-US" dirty="0">
                    <a:solidFill>
                      <a:srgbClr val="203346"/>
                    </a:solidFill>
                    <a:latin typeface="Times New Roman"/>
                    <a:ea typeface="Times New Roman"/>
                    <a:cs typeface="Times New Roman"/>
                  </a:rPr>
                  <a:t>opposite(Y₁)</a:t>
                </a:r>
              </a:p>
            </p:txBody>
          </p:sp>
          <p:cxnSp>
            <p:nvCxnSpPr>
              <p:cNvPr id="138" name="B/A3/PromptToModel"/>
              <p:cNvCxnSpPr/>
              <p:nvPr/>
            </p:nvCxnSpPr>
            <p:spPr>
              <a:xfrm>
                <a:off x="7580375" y="4608576"/>
                <a:ext cx="210313" cy="0"/>
              </a:xfrm>
              <a:prstGeom prst="line">
                <a:avLst/>
              </a:prstGeom>
              <a:ln w="19050" cap="rnd">
                <a:solidFill>
                  <a:srgbClr val="B55929"/>
                </a:solidFill>
                <a:tailEnd type="triangle" w="sm" len="sm"/>
              </a:ln>
            </p:spPr>
          </p:cxnSp>
          <p:sp>
            <p:nvSpPr>
              <p:cNvPr id="139" name="B/A3/SameModel"/>
              <p:cNvSpPr/>
              <p:nvPr/>
            </p:nvSpPr>
            <p:spPr>
              <a:xfrm>
                <a:off x="7836408" y="4297680"/>
                <a:ext cx="914400" cy="621792"/>
              </a:xfrm>
              <a:prstGeom prst="roundRect">
                <a:avLst>
                  <a:gd name="adj" fmla="val 11764"/>
                </a:avLst>
              </a:prstGeom>
              <a:solidFill>
                <a:srgbClr val="FFFFFF"/>
              </a:solidFill>
              <a:ln w="15240">
                <a:solidFill>
                  <a:srgbClr val="DA9975"/>
                </a:solidFill>
              </a:ln>
              <a:effectLst/>
            </p:spPr>
            <p:txBody>
              <a:bodyPr rtlCol="0" anchor="ctr"/>
              <a:lstStyle/>
              <a:p>
                <a:pPr algn="ctr"/>
              </a:p>
            </p:txBody>
          </p:sp>
          <p:grpSp>
            <p:nvGrpSpPr>
              <p:cNvPr id="140" name="B/A3/Chip"/>
              <p:cNvGrpSpPr/>
              <p:nvPr/>
            </p:nvGrpSpPr>
            <p:grpSpPr>
              <a:xfrm>
                <a:off x="7903524" y="4456236"/>
                <a:ext cx="304679" cy="304679"/>
                <a:chOff x="7903524" y="4456236"/>
                <a:chExt cx="304679" cy="304679"/>
              </a:xfrm>
            </p:grpSpPr>
            <p:sp>
              <p:nvSpPr>
                <p:cNvPr id="141" name="B/A3/Chip/Core"/>
                <p:cNvSpPr/>
                <p:nvPr/>
              </p:nvSpPr>
              <p:spPr>
                <a:xfrm>
                  <a:off x="7956377" y="4509089"/>
                  <a:ext cx="198973" cy="198973"/>
                </a:xfrm>
                <a:prstGeom prst="roundRect">
                  <a:avLst>
                    <a:gd name="adj" fmla="val 20680"/>
                  </a:avLst>
                </a:prstGeom>
                <a:solidFill>
                  <a:srgbClr val="FFFFFF"/>
                </a:solidFill>
                <a:ln w="17145">
                  <a:solidFill>
                    <a:srgbClr val="B55929"/>
                  </a:solidFill>
                </a:ln>
                <a:effectLst/>
              </p:spPr>
              <p:txBody>
                <a:bodyPr rtlCol="0" anchor="ctr"/>
                <a:lstStyle/>
                <a:p>
                  <a:pPr algn="ctr"/>
                </a:p>
              </p:txBody>
            </p:sp>
            <p:cxnSp>
              <p:nvCxnSpPr>
                <p:cNvPr id="142" name="B/A3/Chip/PinL-0.2"/>
                <p:cNvCxnSpPr/>
                <p:nvPr/>
              </p:nvCxnSpPr>
              <p:spPr>
                <a:xfrm>
                  <a:off x="7903524" y="4546396"/>
                  <a:ext cx="46635" cy="0"/>
                </a:xfrm>
                <a:prstGeom prst="line">
                  <a:avLst/>
                </a:prstGeom>
                <a:ln w="13970" cap="rnd">
                  <a:solidFill>
                    <a:srgbClr val="B55929"/>
                  </a:solidFill>
                </a:ln>
              </p:spPr>
            </p:cxnSp>
            <p:cxnSp>
              <p:nvCxnSpPr>
                <p:cNvPr id="143" name="B/A3/Chip/PinR-0.2"/>
                <p:cNvCxnSpPr/>
                <p:nvPr/>
              </p:nvCxnSpPr>
              <p:spPr>
                <a:xfrm>
                  <a:off x="8161568" y="4546396"/>
                  <a:ext cx="46635" cy="0"/>
                </a:xfrm>
                <a:prstGeom prst="line">
                  <a:avLst/>
                </a:prstGeom>
                <a:ln w="13970" cap="rnd">
                  <a:solidFill>
                    <a:srgbClr val="B55929"/>
                  </a:solidFill>
                </a:ln>
              </p:spPr>
            </p:cxnSp>
            <p:cxnSp>
              <p:nvCxnSpPr>
                <p:cNvPr id="144" name="B/A3/Chip/PinT-0.2"/>
                <p:cNvCxnSpPr/>
                <p:nvPr/>
              </p:nvCxnSpPr>
              <p:spPr>
                <a:xfrm>
                  <a:off x="7993684" y="4456236"/>
                  <a:ext cx="0" cy="46635"/>
                </a:xfrm>
                <a:prstGeom prst="line">
                  <a:avLst/>
                </a:prstGeom>
                <a:ln w="13970" cap="rnd">
                  <a:solidFill>
                    <a:srgbClr val="B55929"/>
                  </a:solidFill>
                </a:ln>
              </p:spPr>
            </p:cxnSp>
            <p:cxnSp>
              <p:nvCxnSpPr>
                <p:cNvPr id="145" name="B/A3/Chip/PinB-0.2"/>
                <p:cNvCxnSpPr/>
                <p:nvPr/>
              </p:nvCxnSpPr>
              <p:spPr>
                <a:xfrm>
                  <a:off x="7993684" y="4714280"/>
                  <a:ext cx="0" cy="46635"/>
                </a:xfrm>
                <a:prstGeom prst="line">
                  <a:avLst/>
                </a:prstGeom>
                <a:ln w="13970" cap="rnd">
                  <a:solidFill>
                    <a:srgbClr val="B55929"/>
                  </a:solidFill>
                </a:ln>
              </p:spPr>
            </p:cxnSp>
            <p:cxnSp>
              <p:nvCxnSpPr>
                <p:cNvPr id="146" name="B/A3/Chip/PinL0"/>
                <p:cNvCxnSpPr/>
                <p:nvPr/>
              </p:nvCxnSpPr>
              <p:spPr>
                <a:xfrm>
                  <a:off x="7903524" y="4608576"/>
                  <a:ext cx="46635" cy="0"/>
                </a:xfrm>
                <a:prstGeom prst="line">
                  <a:avLst/>
                </a:prstGeom>
                <a:ln w="13970" cap="rnd">
                  <a:solidFill>
                    <a:srgbClr val="B55929"/>
                  </a:solidFill>
                </a:ln>
              </p:spPr>
            </p:cxnSp>
            <p:cxnSp>
              <p:nvCxnSpPr>
                <p:cNvPr id="147" name="B/A3/Chip/PinR0"/>
                <p:cNvCxnSpPr/>
                <p:nvPr/>
              </p:nvCxnSpPr>
              <p:spPr>
                <a:xfrm>
                  <a:off x="8161568" y="4608576"/>
                  <a:ext cx="46635" cy="0"/>
                </a:xfrm>
                <a:prstGeom prst="line">
                  <a:avLst/>
                </a:prstGeom>
                <a:ln w="13970" cap="rnd">
                  <a:solidFill>
                    <a:srgbClr val="B55929"/>
                  </a:solidFill>
                </a:ln>
              </p:spPr>
            </p:cxnSp>
            <p:cxnSp>
              <p:nvCxnSpPr>
                <p:cNvPr id="148" name="B/A3/Chip/PinT0"/>
                <p:cNvCxnSpPr/>
                <p:nvPr/>
              </p:nvCxnSpPr>
              <p:spPr>
                <a:xfrm>
                  <a:off x="8055864" y="4456236"/>
                  <a:ext cx="0" cy="46635"/>
                </a:xfrm>
                <a:prstGeom prst="line">
                  <a:avLst/>
                </a:prstGeom>
                <a:ln w="13970" cap="rnd">
                  <a:solidFill>
                    <a:srgbClr val="B55929"/>
                  </a:solidFill>
                </a:ln>
              </p:spPr>
            </p:cxnSp>
            <p:cxnSp>
              <p:nvCxnSpPr>
                <p:cNvPr id="149" name="B/A3/Chip/PinB0"/>
                <p:cNvCxnSpPr/>
                <p:nvPr/>
              </p:nvCxnSpPr>
              <p:spPr>
                <a:xfrm>
                  <a:off x="8055864" y="4714280"/>
                  <a:ext cx="0" cy="46635"/>
                </a:xfrm>
                <a:prstGeom prst="line">
                  <a:avLst/>
                </a:prstGeom>
                <a:ln w="13970" cap="rnd">
                  <a:solidFill>
                    <a:srgbClr val="B55929"/>
                  </a:solidFill>
                </a:ln>
              </p:spPr>
            </p:cxnSp>
            <p:cxnSp>
              <p:nvCxnSpPr>
                <p:cNvPr id="150" name="B/A3/Chip/PinL0.2"/>
                <p:cNvCxnSpPr/>
                <p:nvPr/>
              </p:nvCxnSpPr>
              <p:spPr>
                <a:xfrm>
                  <a:off x="7903524" y="4670755"/>
                  <a:ext cx="46635" cy="0"/>
                </a:xfrm>
                <a:prstGeom prst="line">
                  <a:avLst/>
                </a:prstGeom>
                <a:ln w="13970" cap="rnd">
                  <a:solidFill>
                    <a:srgbClr val="B55929"/>
                  </a:solidFill>
                </a:ln>
              </p:spPr>
            </p:cxnSp>
            <p:cxnSp>
              <p:nvCxnSpPr>
                <p:cNvPr id="151" name="B/A3/Chip/PinR0.2"/>
                <p:cNvCxnSpPr/>
                <p:nvPr/>
              </p:nvCxnSpPr>
              <p:spPr>
                <a:xfrm>
                  <a:off x="8161568" y="4670755"/>
                  <a:ext cx="46635" cy="0"/>
                </a:xfrm>
                <a:prstGeom prst="line">
                  <a:avLst/>
                </a:prstGeom>
                <a:ln w="13970" cap="rnd">
                  <a:solidFill>
                    <a:srgbClr val="B55929"/>
                  </a:solidFill>
                </a:ln>
              </p:spPr>
            </p:cxnSp>
            <p:cxnSp>
              <p:nvCxnSpPr>
                <p:cNvPr id="152" name="B/A3/Chip/PinT0.2"/>
                <p:cNvCxnSpPr/>
                <p:nvPr/>
              </p:nvCxnSpPr>
              <p:spPr>
                <a:xfrm>
                  <a:off x="8118043" y="4456236"/>
                  <a:ext cx="0" cy="46635"/>
                </a:xfrm>
                <a:prstGeom prst="line">
                  <a:avLst/>
                </a:prstGeom>
                <a:ln w="13970" cap="rnd">
                  <a:solidFill>
                    <a:srgbClr val="B55929"/>
                  </a:solidFill>
                </a:ln>
              </p:spPr>
            </p:cxnSp>
            <p:cxnSp>
              <p:nvCxnSpPr>
                <p:cNvPr id="153" name="B/A3/Chip/PinB0.2"/>
                <p:cNvCxnSpPr/>
                <p:nvPr/>
              </p:nvCxnSpPr>
              <p:spPr>
                <a:xfrm>
                  <a:off x="8118043" y="4714280"/>
                  <a:ext cx="0" cy="46635"/>
                </a:xfrm>
                <a:prstGeom prst="line">
                  <a:avLst/>
                </a:prstGeom>
                <a:ln w="13970" cap="rnd">
                  <a:solidFill>
                    <a:srgbClr val="B55929"/>
                  </a:solidFill>
                </a:ln>
              </p:spPr>
            </p:cxnSp>
            <p:sp>
              <p:nvSpPr>
                <p:cNvPr id="154" name="B/A3/Chip/Trace1"/>
                <p:cNvSpPr/>
                <p:nvPr/>
              </p:nvSpPr>
              <p:spPr>
                <a:xfrm>
                  <a:off x="8003011" y="4568159"/>
                  <a:ext cx="99487" cy="71506"/>
                </a:xfrm>
                <a:custGeom>
                  <a:avLst/>
                  <a:gdLst/>
                  <a:ahLst/>
                  <a:cxnLst/>
                  <a:rect l="l" t="t" r="r" b="b"/>
                  <a:pathLst>
                    <a:path w="99487" h="71506">
                      <a:moveTo>
                        <a:pt x="0" y="0"/>
                      </a:moveTo>
                      <a:lnTo>
                        <a:pt x="52853" y="0"/>
                      </a:lnTo>
                      <a:lnTo>
                        <a:pt x="52853" y="71506"/>
                      </a:lnTo>
                      <a:lnTo>
                        <a:pt x="99487" y="71506"/>
                      </a:lnTo>
                    </a:path>
                  </a:pathLst>
                </a:custGeom>
                <a:noFill/>
                <a:ln w="12700" cap="rnd">
                  <a:solidFill>
                    <a:srgbClr val="B55929"/>
                  </a:solidFill>
                  <a:round/>
                </a:ln>
                <a:effectLst/>
              </p:spPr>
              <p:txBody>
                <a:bodyPr rtlCol="0" anchor="ctr"/>
                <a:lstStyle/>
                <a:p>
                  <a:pPr algn="ctr"/>
                </a:p>
              </p:txBody>
            </p:sp>
            <p:sp>
              <p:nvSpPr>
                <p:cNvPr id="155" name="B/A3/Chip/Trace2"/>
                <p:cNvSpPr/>
                <p:nvPr/>
              </p:nvSpPr>
              <p:spPr>
                <a:xfrm>
                  <a:off x="8006120" y="4614793"/>
                  <a:ext cx="27981" cy="40417"/>
                </a:xfrm>
                <a:custGeom>
                  <a:avLst/>
                  <a:gdLst/>
                  <a:ahLst/>
                  <a:cxnLst/>
                  <a:rect l="l" t="t" r="r" b="b"/>
                  <a:pathLst>
                    <a:path w="27981" h="40417">
                      <a:moveTo>
                        <a:pt x="0" y="40417"/>
                      </a:moveTo>
                      <a:lnTo>
                        <a:pt x="27981" y="40417"/>
                      </a:lnTo>
                      <a:lnTo>
                        <a:pt x="27981" y="0"/>
                      </a:lnTo>
                    </a:path>
                  </a:pathLst>
                </a:custGeom>
                <a:noFill/>
                <a:ln w="12700" cap="rnd">
                  <a:solidFill>
                    <a:srgbClr val="B55929"/>
                  </a:solidFill>
                  <a:round/>
                </a:ln>
                <a:effectLst/>
              </p:spPr>
              <p:txBody>
                <a:bodyPr rtlCol="0" anchor="ctr"/>
                <a:lstStyle/>
                <a:p>
                  <a:pPr algn="ctr"/>
                </a:p>
              </p:txBody>
            </p:sp>
          </p:grpSp>
          <p:sp>
            <p:nvSpPr>
              <p:cNvPr id="156" name="B/A3/Model"/>
              <p:cNvSpPr txBox="1"/>
              <p:nvPr/>
            </p:nvSpPr>
            <p:spPr>
              <a:xfrm>
                <a:off x="8257031" y="4389120"/>
                <a:ext cx="365760" cy="438912"/>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B55929"/>
                    </a:solidFill>
                    <a:latin typeface="Times New Roman"/>
                    <a:ea typeface="Times New Roman"/>
                    <a:cs typeface="Times New Roman"/>
                  </a:rPr>
                  <a:t>M</a:t>
                </a:r>
              </a:p>
            </p:txBody>
          </p:sp>
          <p:cxnSp>
            <p:nvCxnSpPr>
              <p:cNvPr id="157" name="B/A3/ModelToAnswer"/>
              <p:cNvCxnSpPr/>
              <p:nvPr/>
            </p:nvCxnSpPr>
            <p:spPr>
              <a:xfrm>
                <a:off x="8769096" y="4608576"/>
                <a:ext cx="365760" cy="0"/>
              </a:xfrm>
              <a:prstGeom prst="line">
                <a:avLst/>
              </a:prstGeom>
              <a:ln w="19050" cap="rnd">
                <a:solidFill>
                  <a:srgbClr val="B55929"/>
                </a:solidFill>
                <a:tailEnd type="triangle" w="sm" len="sm"/>
              </a:ln>
            </p:spPr>
          </p:cxnSp>
          <p:sp>
            <p:nvSpPr>
              <p:cNvPr id="158" name="B/A3/Output/Plate"/>
              <p:cNvSpPr/>
              <p:nvPr/>
            </p:nvSpPr>
            <p:spPr>
              <a:xfrm>
                <a:off x="9189720" y="4325112"/>
                <a:ext cx="905256" cy="566928"/>
              </a:xfrm>
              <a:prstGeom prst="roundRect">
                <a:avLst>
                  <a:gd name="adj" fmla="val 11290"/>
                </a:avLst>
              </a:prstGeom>
              <a:solidFill>
                <a:srgbClr val="FFF0E6"/>
              </a:solidFill>
              <a:ln w="14604">
                <a:solidFill>
                  <a:srgbClr val="B55929"/>
                </a:solidFill>
              </a:ln>
              <a:effectLst/>
            </p:spPr>
            <p:txBody>
              <a:bodyPr rtlCol="0" anchor="ctr"/>
              <a:lstStyle/>
              <a:p>
                <a:pPr algn="ctr"/>
              </a:p>
            </p:txBody>
          </p:sp>
          <p:sp>
            <p:nvSpPr>
              <p:cNvPr id="159" name="B/A3/Output/Symbol"/>
              <p:cNvSpPr txBox="1"/>
              <p:nvPr/>
            </p:nvSpPr>
            <p:spPr>
              <a:xfrm>
                <a:off x="9198864" y="4325112"/>
                <a:ext cx="886968" cy="548640"/>
              </a:xfrm>
              <a:prstGeom prst="rect">
                <a:avLst/>
              </a:prstGeom>
              <a:noFill/>
            </p:spPr>
            <p:txBody>
              <a:bodyPr wrap="none" lIns="0" rIns="0" tIns="0" bIns="0" anchor="ctr">
                <a:noAutofit/>
              </a:bodyPr>
              <a:lstStyle/>
              <a:p>
                <a:pPr algn="ctr">
                  <a:lnSpc>
                    <a:spcPct val="103000"/>
                  </a:lnSpc>
                  <a:spcBef>
                    <a:spcPts val="0"/>
                  </a:spcBef>
                  <a:spcAft>
                    <a:spcPts val="0"/>
                  </a:spcAft>
                </a:pPr>
                <a:r>
                  <a:rPr sz="2500" b="0" i="1" lang="en-US" dirty="0">
                    <a:solidFill>
                      <a:srgbClr val="B55929"/>
                    </a:solidFill>
                    <a:latin typeface="Times New Roman"/>
                    <a:ea typeface="Times New Roman"/>
                    <a:cs typeface="Times New Roman"/>
                  </a:rPr>
                  <a:t>Y</a:t>
                </a:r>
                <a:r>
                  <a:rPr sz="3100" b="0" i="0" lang="en-US" dirty="0" baseline="-20000">
                    <a:solidFill>
                      <a:srgbClr val="B55929"/>
                    </a:solidFill>
                    <a:latin typeface="Times New Roman"/>
                    <a:ea typeface="Times New Roman"/>
                    <a:cs typeface="Times New Roman"/>
                  </a:rPr>
                  <a:t>2</a:t>
                </a:r>
                <a:r>
                  <a:rPr sz="3100" b="0" i="0" lang="en-US" dirty="0" baseline="33000">
                    <a:solidFill>
                      <a:srgbClr val="B55929"/>
                    </a:solidFill>
                    <a:latin typeface="Times New Roman"/>
                    <a:ea typeface="Times New Roman"/>
                    <a:cs typeface="Times New Roman"/>
                  </a:rPr>
                  <a:t>(3)</a:t>
                </a:r>
              </a:p>
            </p:txBody>
          </p:sp>
        </p:grpSp>
        <p:sp>
          <p:nvSpPr>
            <p:cNvPr id="166" name="B/OpponentEquality"/>
            <p:cNvSpPr txBox="1"/>
            <p:nvPr/>
          </p:nvSpPr>
          <p:spPr>
            <a:xfrm>
              <a:off x="3593592" y="5212080"/>
              <a:ext cx="6483096" cy="265176"/>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526270"/>
                  </a:solidFill>
                  <a:latin typeface="Arial"/>
                  <a:ea typeface="Arial"/>
                  <a:cs typeface="Arial"/>
                </a:rPr>
                <a:t>A₁ / A₃: same opposing answer; no new evidence.</a:t>
              </a:r>
            </a:p>
          </p:txBody>
        </p:sp>
      </p:grpSp>
      <p:grpSp>
        <p:nvGrpSpPr>
          <p:cNvPr id="4" name="C | Reversal and correctness"/>
          <p:cNvGrpSpPr/>
          <p:nvPr/>
        </p:nvGrpSpPr>
        <p:grpSpPr>
          <a:xfrm>
            <a:off x="10378440" y="155448"/>
            <a:ext cx="4087368" cy="5175504"/>
            <a:chOff x="10378440" y="155448"/>
            <a:chExt cx="4087368" cy="5175504"/>
          </a:xfrm>
        </p:grpSpPr>
        <p:sp>
          <p:nvSpPr>
            <p:cNvPr id="11" name="C/Header/Letter"/>
            <p:cNvSpPr txBox="1"/>
            <p:nvPr/>
          </p:nvSpPr>
          <p:spPr>
            <a:xfrm>
              <a:off x="10378440"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c</a:t>
              </a:r>
            </a:p>
          </p:txBody>
        </p:sp>
        <p:sp>
          <p:nvSpPr>
            <p:cNvPr id="12" name="C/Header/Title"/>
            <p:cNvSpPr txBox="1"/>
            <p:nvPr/>
          </p:nvSpPr>
          <p:spPr>
            <a:xfrm>
              <a:off x="10771632" y="155448"/>
              <a:ext cx="3694176"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Interpret revisions</a:t>
              </a:r>
            </a:p>
          </p:txBody>
        </p:sp>
        <p:sp>
          <p:nvSpPr>
            <p:cNvPr id="172" name="C/Panel"/>
            <p:cNvSpPr/>
            <p:nvPr/>
          </p:nvSpPr>
          <p:spPr>
            <a:xfrm>
              <a:off x="10378440" y="832104"/>
              <a:ext cx="4087368" cy="4498848"/>
            </a:xfrm>
            <a:prstGeom prst="roundRect">
              <a:avLst>
                <a:gd name="adj" fmla="val 2684"/>
              </a:avLst>
            </a:prstGeom>
            <a:solidFill>
              <a:srgbClr val="FFFFFF"/>
            </a:solidFill>
            <a:ln w="13970">
              <a:solidFill>
                <a:srgbClr val="B9C6CF"/>
              </a:solidFill>
            </a:ln>
            <a:effectLst/>
          </p:spPr>
          <p:txBody>
            <a:bodyPr rtlCol="0" anchor="ctr"/>
            <a:lstStyle/>
            <a:p>
              <a:pPr algn="ctr"/>
            </a:p>
          </p:txBody>
        </p:sp>
        <p:sp>
          <p:nvSpPr>
            <p:cNvPr id="173" name="C/Reversal/Title"/>
            <p:cNvSpPr txBox="1"/>
            <p:nvPr/>
          </p:nvSpPr>
          <p:spPr>
            <a:xfrm>
              <a:off x="10579608" y="987552"/>
              <a:ext cx="3685032" cy="310896"/>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Did the answer change?</a:t>
              </a:r>
            </a:p>
          </p:txBody>
        </p:sp>
        <p:sp>
          <p:nvSpPr>
            <p:cNvPr id="174" name="C/Reversal/Definition"/>
            <p:cNvSpPr txBox="1"/>
            <p:nvPr/>
          </p:nvSpPr>
          <p:spPr>
            <a:xfrm>
              <a:off x="10570464" y="1389888"/>
              <a:ext cx="3712463" cy="393192"/>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203346"/>
                  </a:solidFill>
                  <a:latin typeface="Times New Roman"/>
                  <a:ea typeface="Times New Roman"/>
                  <a:cs typeface="Times New Roman"/>
                </a:rPr>
                <a:t>rₖ = Pr(Y₂ ≠ Y₁ | Aₖ)</a:t>
              </a:r>
            </a:p>
          </p:txBody>
        </p:sp>
        <p:cxnSp>
          <p:nvCxnSpPr>
            <p:cNvPr id="175" name="C/Divider"/>
            <p:cNvCxnSpPr/>
            <p:nvPr/>
          </p:nvCxnSpPr>
          <p:spPr>
            <a:xfrm>
              <a:off x="10579608" y="1911095"/>
              <a:ext cx="3685032" cy="0"/>
            </a:xfrm>
            <a:prstGeom prst="line">
              <a:avLst/>
            </a:prstGeom>
            <a:ln w="10795" cap="rnd">
              <a:solidFill>
                <a:srgbClr val="B9C6CF"/>
              </a:solidFill>
            </a:ln>
          </p:spPr>
        </p:cxnSp>
        <p:sp>
          <p:nvSpPr>
            <p:cNvPr id="176" name="C/Direction/Title"/>
            <p:cNvSpPr txBox="1"/>
            <p:nvPr/>
          </p:nvSpPr>
          <p:spPr>
            <a:xfrm>
              <a:off x="10579608" y="2057400"/>
              <a:ext cx="3685032" cy="292608"/>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Then: correction or harm?</a:t>
              </a:r>
            </a:p>
          </p:txBody>
        </p:sp>
        <p:grpSp>
          <p:nvGrpSpPr>
            <p:cNvPr id="177" name="C/Direction/Harmful revision"/>
            <p:cNvGrpSpPr/>
            <p:nvPr/>
          </p:nvGrpSpPr>
          <p:grpSpPr>
            <a:xfrm>
              <a:off x="10671048" y="2615184"/>
              <a:ext cx="3438144" cy="685800"/>
              <a:chOff x="10671048" y="2615184"/>
              <a:chExt cx="3438144" cy="685800"/>
            </a:xfrm>
          </p:grpSpPr>
          <p:sp>
            <p:nvSpPr>
              <p:cNvPr id="178" name="C/Harmful revision/Before"/>
              <p:cNvSpPr/>
              <p:nvPr/>
            </p:nvSpPr>
            <p:spPr>
              <a:xfrm>
                <a:off x="10680192" y="2615184"/>
                <a:ext cx="1335024" cy="411480"/>
              </a:xfrm>
              <a:prstGeom prst="roundRect">
                <a:avLst>
                  <a:gd name="adj" fmla="val 15555"/>
                </a:avLst>
              </a:prstGeom>
              <a:solidFill>
                <a:srgbClr val="EAF5F1"/>
              </a:solidFill>
              <a:ln w="11430">
                <a:solidFill>
                  <a:srgbClr val="187D70"/>
                </a:solidFill>
              </a:ln>
              <a:effectLst/>
            </p:spPr>
            <p:txBody>
              <a:bodyPr rtlCol="0" anchor="ctr"/>
              <a:lstStyle/>
              <a:p>
                <a:pPr algn="ctr"/>
              </a:p>
            </p:txBody>
          </p:sp>
          <p:sp>
            <p:nvSpPr>
              <p:cNvPr id="179" name="C/Harmful revision/BeforeText"/>
              <p:cNvSpPr txBox="1"/>
              <p:nvPr/>
            </p:nvSpPr>
            <p:spPr>
              <a:xfrm>
                <a:off x="10689336" y="2615184"/>
                <a:ext cx="1316736" cy="411480"/>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187D70"/>
                    </a:solidFill>
                    <a:latin typeface="Arial"/>
                    <a:ea typeface="Arial"/>
                    <a:cs typeface="Arial"/>
                  </a:rPr>
                  <a:t>Correct</a:t>
                </a:r>
              </a:p>
            </p:txBody>
          </p:sp>
          <p:cxnSp>
            <p:nvCxnSpPr>
              <p:cNvPr id="180" name="C/Harmful revision/Arrow"/>
              <p:cNvCxnSpPr/>
              <p:nvPr/>
            </p:nvCxnSpPr>
            <p:spPr>
              <a:xfrm>
                <a:off x="12161520" y="2820924"/>
                <a:ext cx="457200" cy="0"/>
              </a:xfrm>
              <a:prstGeom prst="line">
                <a:avLst/>
              </a:prstGeom>
              <a:ln w="25400" cap="rnd">
                <a:solidFill>
                  <a:srgbClr val="B55929"/>
                </a:solidFill>
                <a:tailEnd type="triangle" w="sm" len="sm"/>
              </a:ln>
            </p:spPr>
          </p:cxnSp>
          <p:sp>
            <p:nvSpPr>
              <p:cNvPr id="181" name="C/Harmful revision/After"/>
              <p:cNvSpPr/>
              <p:nvPr/>
            </p:nvSpPr>
            <p:spPr>
              <a:xfrm>
                <a:off x="12765024" y="2615184"/>
                <a:ext cx="1335024" cy="411480"/>
              </a:xfrm>
              <a:prstGeom prst="roundRect">
                <a:avLst>
                  <a:gd name="adj" fmla="val 15555"/>
                </a:avLst>
              </a:prstGeom>
              <a:solidFill>
                <a:srgbClr val="FFF0E6"/>
              </a:solidFill>
              <a:ln w="11430">
                <a:solidFill>
                  <a:srgbClr val="B55929"/>
                </a:solidFill>
              </a:ln>
              <a:effectLst/>
            </p:spPr>
            <p:txBody>
              <a:bodyPr rtlCol="0" anchor="ctr"/>
              <a:lstStyle/>
              <a:p>
                <a:pPr algn="ctr"/>
              </a:p>
            </p:txBody>
          </p:sp>
          <p:sp>
            <p:nvSpPr>
              <p:cNvPr id="182" name="C/Harmful revision/AfterText"/>
              <p:cNvSpPr txBox="1"/>
              <p:nvPr/>
            </p:nvSpPr>
            <p:spPr>
              <a:xfrm>
                <a:off x="12774168" y="2615184"/>
                <a:ext cx="1316736" cy="411480"/>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B55929"/>
                    </a:solidFill>
                    <a:latin typeface="Arial"/>
                    <a:ea typeface="Arial"/>
                    <a:cs typeface="Arial"/>
                  </a:rPr>
                  <a:t>Wrong</a:t>
                </a:r>
              </a:p>
            </p:txBody>
          </p:sp>
          <p:sp>
            <p:nvSpPr>
              <p:cNvPr id="183" name="C/Harmful revision/Label"/>
              <p:cNvSpPr txBox="1"/>
              <p:nvPr/>
            </p:nvSpPr>
            <p:spPr>
              <a:xfrm>
                <a:off x="10671048" y="3054096"/>
                <a:ext cx="3438144" cy="246888"/>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B55929"/>
                    </a:solidFill>
                    <a:latin typeface="Arial"/>
                    <a:ea typeface="Arial"/>
                    <a:cs typeface="Arial"/>
                  </a:rPr>
                  <a:t>Harmful revision</a:t>
                </a:r>
              </a:p>
            </p:txBody>
          </p:sp>
        </p:grpSp>
        <p:grpSp>
          <p:nvGrpSpPr>
            <p:cNvPr id="184" name="C/Direction/Beneficial correction"/>
            <p:cNvGrpSpPr/>
            <p:nvPr/>
          </p:nvGrpSpPr>
          <p:grpSpPr>
            <a:xfrm>
              <a:off x="10671048" y="3438144"/>
              <a:ext cx="3438144" cy="685800"/>
              <a:chOff x="10671048" y="3438144"/>
              <a:chExt cx="3438144" cy="685800"/>
            </a:xfrm>
          </p:grpSpPr>
          <p:sp>
            <p:nvSpPr>
              <p:cNvPr id="185" name="C/Beneficial correction/Before"/>
              <p:cNvSpPr/>
              <p:nvPr/>
            </p:nvSpPr>
            <p:spPr>
              <a:xfrm>
                <a:off x="10680192" y="3438144"/>
                <a:ext cx="1335024" cy="411480"/>
              </a:xfrm>
              <a:prstGeom prst="roundRect">
                <a:avLst>
                  <a:gd name="adj" fmla="val 15555"/>
                </a:avLst>
              </a:prstGeom>
              <a:solidFill>
                <a:srgbClr val="FFF0E6"/>
              </a:solidFill>
              <a:ln w="11430">
                <a:solidFill>
                  <a:srgbClr val="B55929"/>
                </a:solidFill>
              </a:ln>
              <a:effectLst/>
            </p:spPr>
            <p:txBody>
              <a:bodyPr rtlCol="0" anchor="ctr"/>
              <a:lstStyle/>
              <a:p>
                <a:pPr algn="ctr"/>
              </a:p>
            </p:txBody>
          </p:sp>
          <p:sp>
            <p:nvSpPr>
              <p:cNvPr id="186" name="C/Beneficial correction/BeforeText"/>
              <p:cNvSpPr txBox="1"/>
              <p:nvPr/>
            </p:nvSpPr>
            <p:spPr>
              <a:xfrm>
                <a:off x="10689336" y="3438144"/>
                <a:ext cx="1316736" cy="411480"/>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B55929"/>
                    </a:solidFill>
                    <a:latin typeface="Arial"/>
                    <a:ea typeface="Arial"/>
                    <a:cs typeface="Arial"/>
                  </a:rPr>
                  <a:t>Wrong</a:t>
                </a:r>
              </a:p>
            </p:txBody>
          </p:sp>
          <p:cxnSp>
            <p:nvCxnSpPr>
              <p:cNvPr id="187" name="C/Beneficial correction/Arrow"/>
              <p:cNvCxnSpPr/>
              <p:nvPr/>
            </p:nvCxnSpPr>
            <p:spPr>
              <a:xfrm>
                <a:off x="12161520" y="3643884"/>
                <a:ext cx="457200" cy="0"/>
              </a:xfrm>
              <a:prstGeom prst="line">
                <a:avLst/>
              </a:prstGeom>
              <a:ln w="25400" cap="rnd">
                <a:solidFill>
                  <a:srgbClr val="187D70"/>
                </a:solidFill>
                <a:tailEnd type="triangle" w="sm" len="sm"/>
              </a:ln>
            </p:spPr>
          </p:cxnSp>
          <p:sp>
            <p:nvSpPr>
              <p:cNvPr id="188" name="C/Beneficial correction/After"/>
              <p:cNvSpPr/>
              <p:nvPr/>
            </p:nvSpPr>
            <p:spPr>
              <a:xfrm>
                <a:off x="12765024" y="3438144"/>
                <a:ext cx="1335024" cy="411480"/>
              </a:xfrm>
              <a:prstGeom prst="roundRect">
                <a:avLst>
                  <a:gd name="adj" fmla="val 15555"/>
                </a:avLst>
              </a:prstGeom>
              <a:solidFill>
                <a:srgbClr val="EAF5F1"/>
              </a:solidFill>
              <a:ln w="11430">
                <a:solidFill>
                  <a:srgbClr val="187D70"/>
                </a:solidFill>
              </a:ln>
              <a:effectLst/>
            </p:spPr>
            <p:txBody>
              <a:bodyPr rtlCol="0" anchor="ctr"/>
              <a:lstStyle/>
              <a:p>
                <a:pPr algn="ctr"/>
              </a:p>
            </p:txBody>
          </p:sp>
          <p:sp>
            <p:nvSpPr>
              <p:cNvPr id="189" name="C/Beneficial correction/AfterText"/>
              <p:cNvSpPr txBox="1"/>
              <p:nvPr/>
            </p:nvSpPr>
            <p:spPr>
              <a:xfrm>
                <a:off x="12774168" y="3438144"/>
                <a:ext cx="1316736" cy="411480"/>
              </a:xfrm>
              <a:prstGeom prst="rect">
                <a:avLst/>
              </a:prstGeom>
              <a:noFill/>
            </p:spPr>
            <p:txBody>
              <a:bodyPr wrap="none" lIns="0" rIns="0" tIns="0" bIns="0" anchor="ctr">
                <a:noAutofit/>
              </a:bodyPr>
              <a:lstStyle/>
              <a:p>
                <a:pPr algn="ctr">
                  <a:lnSpc>
                    <a:spcPct val="103000"/>
                  </a:lnSpc>
                  <a:spcBef>
                    <a:spcPts val="0"/>
                  </a:spcBef>
                  <a:spcAft>
                    <a:spcPts val="0"/>
                  </a:spcAft>
                </a:pPr>
                <a:r>
                  <a:rPr sz="2200" b="1" i="0" lang="en-US" dirty="0">
                    <a:solidFill>
                      <a:srgbClr val="187D70"/>
                    </a:solidFill>
                    <a:latin typeface="Arial"/>
                    <a:ea typeface="Arial"/>
                    <a:cs typeface="Arial"/>
                  </a:rPr>
                  <a:t>Correct</a:t>
                </a:r>
              </a:p>
            </p:txBody>
          </p:sp>
          <p:sp>
            <p:nvSpPr>
              <p:cNvPr id="190" name="C/Beneficial correction/Label"/>
              <p:cNvSpPr txBox="1"/>
              <p:nvPr/>
            </p:nvSpPr>
            <p:spPr>
              <a:xfrm>
                <a:off x="10671048" y="3877056"/>
                <a:ext cx="3438144" cy="246888"/>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187D70"/>
                    </a:solidFill>
                    <a:latin typeface="Arial"/>
                    <a:ea typeface="Arial"/>
                    <a:cs typeface="Arial"/>
                  </a:rPr>
                  <a:t>Beneficial correction</a:t>
                </a:r>
              </a:p>
            </p:txBody>
          </p:sp>
        </p:grpSp>
        <p:cxnSp>
          <p:nvCxnSpPr>
            <p:cNvPr id="191" name="C/AccuracyDivider"/>
            <p:cNvCxnSpPr/>
            <p:nvPr/>
          </p:nvCxnSpPr>
          <p:spPr>
            <a:xfrm>
              <a:off x="10579608" y="4334256"/>
              <a:ext cx="3685032" cy="0"/>
            </a:xfrm>
            <a:prstGeom prst="line">
              <a:avLst/>
            </a:prstGeom>
            <a:ln w="10795" cap="rnd">
              <a:solidFill>
                <a:srgbClr val="B9C6CF"/>
              </a:solidFill>
            </a:ln>
          </p:spPr>
        </p:cxnSp>
        <p:sp>
          <p:nvSpPr>
            <p:cNvPr id="192" name="C/Accuracy/Formula"/>
            <p:cNvSpPr txBox="1"/>
            <p:nvPr/>
          </p:nvSpPr>
          <p:spPr>
            <a:xfrm>
              <a:off x="10552176" y="4480560"/>
              <a:ext cx="3749039" cy="384048"/>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203346"/>
                  </a:solidFill>
                  <a:latin typeface="Times New Roman"/>
                  <a:ea typeface="Times New Roman"/>
                  <a:cs typeface="Times New Roman"/>
                </a:rPr>
                <a:t>ΔAcc(Aₖ) = Acc₂(Aₖ) − Acc₁</a:t>
              </a:r>
            </a:p>
          </p:txBody>
        </p:sp>
        <p:sp>
          <p:nvSpPr>
            <p:cNvPr id="193" name="C/Accuracy/Note"/>
            <p:cNvSpPr txBox="1"/>
            <p:nvPr/>
          </p:nvSpPr>
          <p:spPr>
            <a:xfrm>
              <a:off x="10579608" y="4928616"/>
              <a:ext cx="3685032" cy="237744"/>
            </a:xfrm>
            <a:prstGeom prst="rect">
              <a:avLst/>
            </a:prstGeom>
            <a:noFill/>
          </p:spPr>
          <p:txBody>
            <a:bodyPr wrap="none" lIns="0" rIns="0" tIns="0" bIns="0" anchor="ctr">
              <a:noAutofit/>
            </a:bodyPr>
            <a:lstStyle/>
            <a:p>
              <a:pPr algn="ctr">
                <a:lnSpc>
                  <a:spcPct val="103000"/>
                </a:lnSpc>
                <a:spcBef>
                  <a:spcPts val="0"/>
                </a:spcBef>
                <a:spcAft>
                  <a:spcPts val="0"/>
                </a:spcAft>
              </a:pPr>
              <a:r>
                <a:rPr sz="2200" b="0" i="0" lang="en-US" dirty="0">
                  <a:solidFill>
                    <a:srgbClr val="526270"/>
                  </a:solidFill>
                  <a:latin typeface="Arial"/>
                  <a:ea typeface="Arial"/>
                  <a:cs typeface="Arial"/>
                </a:rPr>
                <a:t>Track accuracy separately.</a:t>
              </a:r>
            </a:p>
          </p:txBody>
        </p:sp>
      </p:grpSp>
      <p:grpSp>
        <p:nvGrpSpPr>
          <p:cNvPr id="5" name="D | Paired contrast definitions"/>
          <p:cNvGrpSpPr/>
          <p:nvPr/>
        </p:nvGrpSpPr>
        <p:grpSpPr>
          <a:xfrm>
            <a:off x="164592" y="5650992"/>
            <a:ext cx="14301216" cy="859536"/>
            <a:chOff x="164592" y="5650992"/>
            <a:chExt cx="14301216" cy="859536"/>
          </a:xfrm>
        </p:grpSpPr>
        <p:grpSp>
          <p:nvGrpSpPr>
            <p:cNvPr id="194" name="Contrast | Natural drift"/>
            <p:cNvGrpSpPr/>
            <p:nvPr/>
          </p:nvGrpSpPr>
          <p:grpSpPr>
            <a:xfrm>
              <a:off x="164592" y="5650992"/>
              <a:ext cx="4443984" cy="859536"/>
              <a:chOff x="164592" y="5650992"/>
              <a:chExt cx="4443984" cy="859536"/>
            </a:xfrm>
          </p:grpSpPr>
          <p:sp>
            <p:nvSpPr>
              <p:cNvPr id="195" name="Natural drift/Card"/>
              <p:cNvSpPr/>
              <p:nvPr/>
            </p:nvSpPr>
            <p:spPr>
              <a:xfrm>
                <a:off x="164592" y="5650992"/>
                <a:ext cx="4443984" cy="859536"/>
              </a:xfrm>
              <a:prstGeom prst="roundRect">
                <a:avLst>
                  <a:gd name="adj" fmla="val 8510"/>
                </a:avLst>
              </a:prstGeom>
              <a:solidFill>
                <a:srgbClr val="F1F4F6"/>
              </a:solidFill>
              <a:ln w="14604">
                <a:solidFill>
                  <a:srgbClr val="B9C6CF"/>
                </a:solidFill>
              </a:ln>
              <a:effectLst/>
            </p:spPr>
            <p:txBody>
              <a:bodyPr rtlCol="0" anchor="ctr"/>
              <a:lstStyle/>
              <a:p>
                <a:pPr algn="ctr"/>
              </a:p>
            </p:txBody>
          </p:sp>
          <p:sp>
            <p:nvSpPr>
              <p:cNvPr id="196" name="Natural drift/Accent"/>
              <p:cNvSpPr/>
              <p:nvPr/>
            </p:nvSpPr>
            <p:spPr>
              <a:xfrm>
                <a:off x="164592" y="5733288"/>
                <a:ext cx="38404" cy="694944"/>
              </a:xfrm>
              <a:prstGeom prst="rect">
                <a:avLst/>
              </a:prstGeom>
              <a:solidFill>
                <a:srgbClr val="66737D"/>
              </a:solidFill>
              <a:ln>
                <a:noFill/>
              </a:ln>
              <a:effectLst/>
            </p:spPr>
            <p:txBody>
              <a:bodyPr rtlCol="0" anchor="ctr"/>
              <a:lstStyle/>
              <a:p>
                <a:pPr algn="ctr"/>
              </a:p>
            </p:txBody>
          </p:sp>
          <p:sp>
            <p:nvSpPr>
              <p:cNvPr id="197" name="Natural drift/Title"/>
              <p:cNvSpPr txBox="1"/>
              <p:nvPr/>
            </p:nvSpPr>
            <p:spPr>
              <a:xfrm>
                <a:off x="329184" y="5769864"/>
                <a:ext cx="2450592" cy="27432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66737D"/>
                    </a:solidFill>
                    <a:latin typeface="Arial"/>
                    <a:ea typeface="Arial"/>
                    <a:cs typeface="Arial"/>
                  </a:rPr>
                  <a:t>Natural drift</a:t>
                </a:r>
              </a:p>
            </p:txBody>
          </p:sp>
          <p:sp>
            <p:nvSpPr>
              <p:cNvPr id="198" name="Natural drift/Meaning"/>
              <p:cNvSpPr txBox="1"/>
              <p:nvPr/>
            </p:nvSpPr>
            <p:spPr>
              <a:xfrm>
                <a:off x="329184" y="6108192"/>
                <a:ext cx="4133088" cy="28346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526270"/>
                    </a:solidFill>
                    <a:latin typeface="Arial"/>
                    <a:ea typeface="Arial"/>
                    <a:cs typeface="Arial"/>
                  </a:rPr>
                  <a:t>Neutral-reflection baseline</a:t>
                </a:r>
              </a:p>
            </p:txBody>
          </p:sp>
          <p:sp>
            <p:nvSpPr>
              <p:cNvPr id="199" name="Natural drift/Equation"/>
              <p:cNvSpPr txBox="1"/>
              <p:nvPr/>
            </p:nvSpPr>
            <p:spPr>
              <a:xfrm>
                <a:off x="2633472" y="5742432"/>
                <a:ext cx="1837944" cy="374904"/>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66737D"/>
                    </a:solidFill>
                    <a:latin typeface="Times New Roman"/>
                    <a:ea typeface="Times New Roman"/>
                    <a:cs typeface="Times New Roman"/>
                  </a:rPr>
                  <a:t>D = r₀</a:t>
                </a:r>
              </a:p>
            </p:txBody>
          </p:sp>
        </p:grpSp>
        <p:grpSp>
          <p:nvGrpSpPr>
            <p:cNvPr id="200" name="Contrast | Disagreement"/>
            <p:cNvGrpSpPr/>
            <p:nvPr/>
          </p:nvGrpSpPr>
          <p:grpSpPr>
            <a:xfrm>
              <a:off x="4782312" y="5650992"/>
              <a:ext cx="4599432" cy="859536"/>
              <a:chOff x="4782312" y="5650992"/>
              <a:chExt cx="4599432" cy="859536"/>
            </a:xfrm>
          </p:grpSpPr>
          <p:sp>
            <p:nvSpPr>
              <p:cNvPr id="201" name="Disagreement/Card"/>
              <p:cNvSpPr/>
              <p:nvPr/>
            </p:nvSpPr>
            <p:spPr>
              <a:xfrm>
                <a:off x="4782312" y="5650992"/>
                <a:ext cx="4599432" cy="859536"/>
              </a:xfrm>
              <a:prstGeom prst="roundRect">
                <a:avLst>
                  <a:gd name="adj" fmla="val 8510"/>
                </a:avLst>
              </a:prstGeom>
              <a:solidFill>
                <a:srgbClr val="ECF4FC"/>
              </a:solidFill>
              <a:ln w="14604">
                <a:solidFill>
                  <a:srgbClr val="86ACCF"/>
                </a:solidFill>
              </a:ln>
              <a:effectLst/>
            </p:spPr>
            <p:txBody>
              <a:bodyPr rtlCol="0" anchor="ctr"/>
              <a:lstStyle/>
              <a:p>
                <a:pPr algn="ctr"/>
              </a:p>
            </p:txBody>
          </p:sp>
          <p:sp>
            <p:nvSpPr>
              <p:cNvPr id="202" name="Disagreement/Accent"/>
              <p:cNvSpPr/>
              <p:nvPr/>
            </p:nvSpPr>
            <p:spPr>
              <a:xfrm>
                <a:off x="4782312" y="5733288"/>
                <a:ext cx="38404" cy="694944"/>
              </a:xfrm>
              <a:prstGeom prst="rect">
                <a:avLst/>
              </a:prstGeom>
              <a:solidFill>
                <a:srgbClr val="2768A5"/>
              </a:solidFill>
              <a:ln>
                <a:noFill/>
              </a:ln>
              <a:effectLst/>
            </p:spPr>
            <p:txBody>
              <a:bodyPr rtlCol="0" anchor="ctr"/>
              <a:lstStyle/>
              <a:p>
                <a:pPr algn="ctr"/>
              </a:p>
            </p:txBody>
          </p:sp>
          <p:sp>
            <p:nvSpPr>
              <p:cNvPr id="203" name="Disagreement/Title"/>
              <p:cNvSpPr txBox="1"/>
              <p:nvPr/>
            </p:nvSpPr>
            <p:spPr>
              <a:xfrm>
                <a:off x="4946904" y="5769864"/>
                <a:ext cx="2450592" cy="27432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768A5"/>
                    </a:solidFill>
                    <a:latin typeface="Arial"/>
                    <a:ea typeface="Arial"/>
                    <a:cs typeface="Arial"/>
                  </a:rPr>
                  <a:t>Disagreement</a:t>
                </a:r>
              </a:p>
            </p:txBody>
          </p:sp>
          <p:sp>
            <p:nvSpPr>
              <p:cNvPr id="204" name="Disagreement/Meaning"/>
              <p:cNvSpPr txBox="1"/>
              <p:nvPr/>
            </p:nvSpPr>
            <p:spPr>
              <a:xfrm>
                <a:off x="4946904" y="6108192"/>
                <a:ext cx="4288536" cy="28346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526270"/>
                    </a:solidFill>
                    <a:latin typeface="Arial"/>
                    <a:ea typeface="Arial"/>
                    <a:cs typeface="Arial"/>
                  </a:rPr>
                  <a:t>Beyond neutral reflection</a:t>
                </a:r>
              </a:p>
            </p:txBody>
          </p:sp>
          <p:sp>
            <p:nvSpPr>
              <p:cNvPr id="205" name="Disagreement/Equation"/>
              <p:cNvSpPr txBox="1"/>
              <p:nvPr/>
            </p:nvSpPr>
            <p:spPr>
              <a:xfrm>
                <a:off x="7434072" y="5742432"/>
                <a:ext cx="1810512" cy="374904"/>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2768A5"/>
                    </a:solidFill>
                    <a:latin typeface="Times New Roman"/>
                    <a:ea typeface="Times New Roman"/>
                    <a:cs typeface="Times New Roman"/>
                  </a:rPr>
                  <a:t>G = r₁ − r₀</a:t>
                </a:r>
              </a:p>
            </p:txBody>
          </p:sp>
        </p:grpSp>
        <p:grpSp>
          <p:nvGrpSpPr>
            <p:cNvPr id="206" name="Contrast | Expert-label effect"/>
            <p:cNvGrpSpPr/>
            <p:nvPr/>
          </p:nvGrpSpPr>
          <p:grpSpPr>
            <a:xfrm>
              <a:off x="9555480" y="5650992"/>
              <a:ext cx="4910328" cy="859536"/>
              <a:chOff x="9555480" y="5650992"/>
              <a:chExt cx="4910328" cy="859536"/>
            </a:xfrm>
          </p:grpSpPr>
          <p:sp>
            <p:nvSpPr>
              <p:cNvPr id="207" name="Expert-label effect/Card"/>
              <p:cNvSpPr/>
              <p:nvPr/>
            </p:nvSpPr>
            <p:spPr>
              <a:xfrm>
                <a:off x="9555480" y="5650992"/>
                <a:ext cx="4910328" cy="859536"/>
              </a:xfrm>
              <a:prstGeom prst="roundRect">
                <a:avLst>
                  <a:gd name="adj" fmla="val 8510"/>
                </a:avLst>
              </a:prstGeom>
              <a:solidFill>
                <a:srgbClr val="FFF0E6"/>
              </a:solidFill>
              <a:ln w="14604">
                <a:solidFill>
                  <a:srgbClr val="DA9975"/>
                </a:solidFill>
              </a:ln>
              <a:effectLst/>
            </p:spPr>
            <p:txBody>
              <a:bodyPr rtlCol="0" anchor="ctr"/>
              <a:lstStyle/>
              <a:p>
                <a:pPr algn="ctr"/>
              </a:p>
            </p:txBody>
          </p:sp>
          <p:sp>
            <p:nvSpPr>
              <p:cNvPr id="208" name="Expert-label effect/Accent"/>
              <p:cNvSpPr/>
              <p:nvPr/>
            </p:nvSpPr>
            <p:spPr>
              <a:xfrm>
                <a:off x="9555480" y="5733288"/>
                <a:ext cx="38404" cy="694944"/>
              </a:xfrm>
              <a:prstGeom prst="rect">
                <a:avLst/>
              </a:prstGeom>
              <a:solidFill>
                <a:srgbClr val="B55929"/>
              </a:solidFill>
              <a:ln>
                <a:noFill/>
              </a:ln>
              <a:effectLst/>
            </p:spPr>
            <p:txBody>
              <a:bodyPr rtlCol="0" anchor="ctr"/>
              <a:lstStyle/>
              <a:p>
                <a:pPr algn="ctr"/>
              </a:p>
            </p:txBody>
          </p:sp>
          <p:sp>
            <p:nvSpPr>
              <p:cNvPr id="209" name="Expert-label effect/Title"/>
              <p:cNvSpPr txBox="1"/>
              <p:nvPr/>
            </p:nvSpPr>
            <p:spPr>
              <a:xfrm>
                <a:off x="9720072" y="5769864"/>
                <a:ext cx="2450592" cy="27432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B55929"/>
                    </a:solidFill>
                    <a:latin typeface="Arial"/>
                    <a:ea typeface="Arial"/>
                    <a:cs typeface="Arial"/>
                  </a:rPr>
                  <a:t>Expert-label effect</a:t>
                </a:r>
              </a:p>
            </p:txBody>
          </p:sp>
          <p:sp>
            <p:nvSpPr>
              <p:cNvPr id="210" name="Expert-label effect/Meaning"/>
              <p:cNvSpPr txBox="1"/>
              <p:nvPr/>
            </p:nvSpPr>
            <p:spPr>
              <a:xfrm>
                <a:off x="9720072" y="6108192"/>
                <a:ext cx="4599432" cy="283464"/>
              </a:xfrm>
              <a:prstGeom prst="rect">
                <a:avLst/>
              </a:prstGeom>
              <a:noFill/>
            </p:spPr>
            <p:txBody>
              <a:bodyPr wrap="none" lIns="0" rIns="0" tIns="0" bIns="0" anchor="ctr">
                <a:noAutofit/>
              </a:bodyPr>
              <a:lstStyle/>
              <a:p>
                <a:pPr algn="l">
                  <a:lnSpc>
                    <a:spcPct val="103000"/>
                  </a:lnSpc>
                  <a:spcBef>
                    <a:spcPts val="0"/>
                  </a:spcBef>
                  <a:spcAft>
                    <a:spcPts val="0"/>
                  </a:spcAft>
                </a:pPr>
                <a:r>
                  <a:rPr sz="2200" b="0" i="0" lang="en-US" dirty="0">
                    <a:solidFill>
                      <a:srgbClr val="526270"/>
                    </a:solidFill>
                    <a:latin typeface="Arial"/>
                    <a:ea typeface="Arial"/>
                    <a:cs typeface="Arial"/>
                  </a:rPr>
                  <a:t>Beyond anonymous disagreement</a:t>
                </a:r>
              </a:p>
            </p:txBody>
          </p:sp>
          <p:sp>
            <p:nvSpPr>
              <p:cNvPr id="211" name="Expert-label effect/Equation"/>
              <p:cNvSpPr txBox="1"/>
              <p:nvPr/>
            </p:nvSpPr>
            <p:spPr>
              <a:xfrm>
                <a:off x="12207240" y="5742432"/>
                <a:ext cx="2121408" cy="374904"/>
              </a:xfrm>
              <a:prstGeom prst="rect">
                <a:avLst/>
              </a:prstGeom>
              <a:noFill/>
            </p:spPr>
            <p:txBody>
              <a:bodyPr wrap="none" lIns="0" rIns="0" tIns="0" bIns="0" anchor="ctr">
                <a:noAutofit/>
              </a:bodyPr>
              <a:lstStyle/>
              <a:p>
                <a:pPr algn="ctr">
                  <a:lnSpc>
                    <a:spcPct val="103000"/>
                  </a:lnSpc>
                  <a:spcBef>
                    <a:spcPts val="0"/>
                  </a:spcBef>
                  <a:spcAft>
                    <a:spcPts val="0"/>
                  </a:spcAft>
                </a:pPr>
                <a:r>
                  <a:rPr sz="2600" b="0" i="0" lang="en-US" dirty="0">
                    <a:solidFill>
                      <a:srgbClr val="B55929"/>
                    </a:solidFill>
                    <a:latin typeface="Times New Roman"/>
                    <a:ea typeface="Times New Roman"/>
                    <a:cs typeface="Times New Roman"/>
                  </a:rPr>
                  <a:t>P = r₃ − r₁</a:t>
                </a:r>
              </a:p>
            </p:txBody>
          </p:sp>
        </p:grpSp>
      </p:grpSp>
      <p:grpSp>
        <p:nvGrpSpPr>
          <p:cNvPr id="6" name="Connections | Shared answer branches"/>
          <p:cNvGrpSpPr/>
          <p:nvPr/>
        </p:nvGrpSpPr>
        <p:grpSpPr>
          <a:xfrm>
            <a:off x="2660904" y="2249424"/>
            <a:ext cx="7708392" cy="2359152"/>
            <a:chOff x="2660904" y="2249424"/>
            <a:chExt cx="7708392" cy="2359152"/>
          </a:xfrm>
        </p:grpSpPr>
        <p:cxnSp>
          <p:nvCxnSpPr>
            <p:cNvPr id="160" name="Y1/ToFork"/>
            <p:cNvCxnSpPr/>
            <p:nvPr/>
          </p:nvCxnSpPr>
          <p:spPr>
            <a:xfrm>
              <a:off x="2660904" y="4553712"/>
              <a:ext cx="585216" cy="0"/>
            </a:xfrm>
            <a:prstGeom prst="line">
              <a:avLst/>
            </a:prstGeom>
            <a:ln w="20955" cap="rnd">
              <a:solidFill>
                <a:srgbClr val="203346"/>
              </a:solidFill>
            </a:ln>
          </p:spPr>
        </p:cxnSp>
        <p:cxnSp>
          <p:nvCxnSpPr>
            <p:cNvPr id="161" name="Y1/Fork"/>
            <p:cNvCxnSpPr/>
            <p:nvPr/>
          </p:nvCxnSpPr>
          <p:spPr>
            <a:xfrm>
              <a:off x="3246120" y="2249424"/>
              <a:ext cx="0" cy="2359152"/>
            </a:xfrm>
            <a:prstGeom prst="line">
              <a:avLst/>
            </a:prstGeom>
            <a:ln w="20955" cap="rnd">
              <a:solidFill>
                <a:srgbClr val="203346"/>
              </a:solidFill>
            </a:ln>
          </p:spPr>
        </p:cxnSp>
        <p:sp>
          <p:nvSpPr>
            <p:cNvPr id="162" name="Y1/Junction"/>
            <p:cNvSpPr/>
            <p:nvPr/>
          </p:nvSpPr>
          <p:spPr>
            <a:xfrm>
              <a:off x="3212287" y="4519879"/>
              <a:ext cx="67665" cy="67665"/>
            </a:xfrm>
            <a:prstGeom prst="ellipse">
              <a:avLst/>
            </a:prstGeom>
            <a:solidFill>
              <a:srgbClr val="203346"/>
            </a:solidFill>
            <a:ln>
              <a:noFill/>
            </a:ln>
            <a:effectLst/>
          </p:spPr>
          <p:txBody>
            <a:bodyPr rtlCol="0" anchor="ctr"/>
            <a:lstStyle/>
            <a:p>
              <a:pPr algn="ctr"/>
            </a:p>
          </p:txBody>
        </p:sp>
        <p:cxnSp>
          <p:nvCxnSpPr>
            <p:cNvPr id="163" name="Y1/ToBranch/2.46"/>
            <p:cNvCxnSpPr/>
            <p:nvPr/>
          </p:nvCxnSpPr>
          <p:spPr>
            <a:xfrm>
              <a:off x="3246120" y="2249424"/>
              <a:ext cx="256032" cy="0"/>
            </a:xfrm>
            <a:prstGeom prst="line">
              <a:avLst/>
            </a:prstGeom>
            <a:ln w="20955" cap="rnd">
              <a:solidFill>
                <a:srgbClr val="203346"/>
              </a:solidFill>
              <a:tailEnd type="triangle" w="sm" len="sm"/>
            </a:ln>
          </p:spPr>
        </p:cxnSp>
        <p:cxnSp>
          <p:nvCxnSpPr>
            <p:cNvPr id="164" name="Y1/ToBranch/3.75"/>
            <p:cNvCxnSpPr/>
            <p:nvPr/>
          </p:nvCxnSpPr>
          <p:spPr>
            <a:xfrm>
              <a:off x="3246120" y="3429000"/>
              <a:ext cx="256032" cy="0"/>
            </a:xfrm>
            <a:prstGeom prst="line">
              <a:avLst/>
            </a:prstGeom>
            <a:ln w="20955" cap="rnd">
              <a:solidFill>
                <a:srgbClr val="203346"/>
              </a:solidFill>
              <a:tailEnd type="triangle" w="sm" len="sm"/>
            </a:ln>
          </p:spPr>
        </p:cxnSp>
        <p:cxnSp>
          <p:nvCxnSpPr>
            <p:cNvPr id="165" name="Y1/ToBranch/5.04"/>
            <p:cNvCxnSpPr/>
            <p:nvPr/>
          </p:nvCxnSpPr>
          <p:spPr>
            <a:xfrm>
              <a:off x="3246120" y="4608576"/>
              <a:ext cx="256032" cy="0"/>
            </a:xfrm>
            <a:prstGeom prst="line">
              <a:avLst/>
            </a:prstGeom>
            <a:ln w="20955" cap="rnd">
              <a:solidFill>
                <a:srgbClr val="203346"/>
              </a:solidFill>
              <a:tailEnd type="triangle" w="sm" len="sm"/>
            </a:ln>
          </p:spPr>
        </p:cxnSp>
        <p:cxnSp>
          <p:nvCxnSpPr>
            <p:cNvPr id="167" name="Y2/Collector"/>
            <p:cNvCxnSpPr/>
            <p:nvPr/>
          </p:nvCxnSpPr>
          <p:spPr>
            <a:xfrm>
              <a:off x="10232136" y="2249424"/>
              <a:ext cx="0" cy="2359152"/>
            </a:xfrm>
            <a:prstGeom prst="line">
              <a:avLst/>
            </a:prstGeom>
            <a:ln w="12700" cap="rnd">
              <a:solidFill>
                <a:srgbClr val="526270"/>
              </a:solidFill>
            </a:ln>
          </p:spPr>
        </p:cxnSp>
        <p:cxnSp>
          <p:nvCxnSpPr>
            <p:cNvPr id="168" name="Y2/ToCollector/2.46"/>
            <p:cNvCxnSpPr/>
            <p:nvPr/>
          </p:nvCxnSpPr>
          <p:spPr>
            <a:xfrm>
              <a:off x="10104120" y="2249424"/>
              <a:ext cx="128016" cy="0"/>
            </a:xfrm>
            <a:prstGeom prst="line">
              <a:avLst/>
            </a:prstGeom>
            <a:ln w="12700" cap="rnd">
              <a:solidFill>
                <a:srgbClr val="526270"/>
              </a:solidFill>
            </a:ln>
          </p:spPr>
        </p:cxnSp>
        <p:cxnSp>
          <p:nvCxnSpPr>
            <p:cNvPr id="169" name="Y2/ToCollector/3.75"/>
            <p:cNvCxnSpPr/>
            <p:nvPr/>
          </p:nvCxnSpPr>
          <p:spPr>
            <a:xfrm>
              <a:off x="10104120" y="3429000"/>
              <a:ext cx="128016" cy="0"/>
            </a:xfrm>
            <a:prstGeom prst="line">
              <a:avLst/>
            </a:prstGeom>
            <a:ln w="12700" cap="rnd">
              <a:solidFill>
                <a:srgbClr val="526270"/>
              </a:solidFill>
            </a:ln>
          </p:spPr>
        </p:cxnSp>
        <p:cxnSp>
          <p:nvCxnSpPr>
            <p:cNvPr id="170" name="Y2/ToCollector/5.04"/>
            <p:cNvCxnSpPr/>
            <p:nvPr/>
          </p:nvCxnSpPr>
          <p:spPr>
            <a:xfrm>
              <a:off x="10104120" y="4608576"/>
              <a:ext cx="128016" cy="0"/>
            </a:xfrm>
            <a:prstGeom prst="line">
              <a:avLst/>
            </a:prstGeom>
            <a:ln w="12700" cap="rnd">
              <a:solidFill>
                <a:srgbClr val="526270"/>
              </a:solidFill>
            </a:ln>
          </p:spPr>
        </p:cxnSp>
        <p:cxnSp>
          <p:nvCxnSpPr>
            <p:cNvPr id="171" name="Y2/ToAudit"/>
            <p:cNvCxnSpPr/>
            <p:nvPr/>
          </p:nvCxnSpPr>
          <p:spPr>
            <a:xfrm>
              <a:off x="10232136" y="3429000"/>
              <a:ext cx="137160" cy="0"/>
            </a:xfrm>
            <a:prstGeom prst="line">
              <a:avLst/>
            </a:prstGeom>
            <a:ln w="16510" cap="rnd">
              <a:solidFill>
                <a:srgbClr val="526270"/>
              </a:solidFill>
              <a:tailEnd type="triangle" w="sm" len="sm"/>
            </a:ln>
          </p:spPr>
        </p:cxn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grpSp>
        <p:nvGrpSpPr>
          <p:cNvPr id="2" name="A | Pass 1 and auxiliary logs"/>
          <p:cNvGrpSpPr/>
          <p:nvPr/>
        </p:nvGrpSpPr>
        <p:grpSpPr>
          <a:xfrm>
            <a:off x="164592" y="155448"/>
            <a:ext cx="4178808" cy="5824728"/>
            <a:chOff x="164592" y="155448"/>
            <a:chExt cx="4178808" cy="5824728"/>
          </a:xfrm>
        </p:grpSpPr>
        <p:sp>
          <p:nvSpPr>
            <p:cNvPr id="6" name="A/Header/Letter"/>
            <p:cNvSpPr txBox="1"/>
            <p:nvPr/>
          </p:nvSpPr>
          <p:spPr>
            <a:xfrm>
              <a:off x="164592"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a</a:t>
              </a:r>
            </a:p>
          </p:txBody>
        </p:sp>
        <p:sp>
          <p:nvSpPr>
            <p:cNvPr id="7" name="A/Header/Title"/>
            <p:cNvSpPr txBox="1"/>
            <p:nvPr/>
          </p:nvSpPr>
          <p:spPr>
            <a:xfrm>
              <a:off x="557784" y="155448"/>
              <a:ext cx="3675888"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Pass 1: initial decision</a:t>
              </a:r>
            </a:p>
          </p:txBody>
        </p:sp>
        <p:sp>
          <p:nvSpPr>
            <p:cNvPr id="12" name="A/Panel"/>
            <p:cNvSpPr/>
            <p:nvPr/>
          </p:nvSpPr>
          <p:spPr>
            <a:xfrm>
              <a:off x="164592" y="832104"/>
              <a:ext cx="4178808" cy="5148072"/>
            </a:xfrm>
            <a:prstGeom prst="roundRect">
              <a:avLst>
                <a:gd name="adj" fmla="val 2625"/>
              </a:avLst>
            </a:prstGeom>
            <a:solidFill>
              <a:srgbClr val="F7F9FA"/>
            </a:solidFill>
            <a:ln w="12700">
              <a:solidFill>
                <a:srgbClr val="B9C6CF"/>
              </a:solidFill>
            </a:ln>
            <a:effectLst/>
          </p:spPr>
          <p:txBody>
            <a:bodyPr rtlCol="0" anchor="ctr"/>
            <a:lstStyle/>
            <a:p>
              <a:pPr algn="ctr"/>
            </a:p>
          </p:txBody>
        </p:sp>
        <p:sp>
          <p:nvSpPr>
            <p:cNvPr id="14" name="A/Inputs"/>
            <p:cNvSpPr/>
            <p:nvPr/>
          </p:nvSpPr>
          <p:spPr>
            <a:xfrm>
              <a:off x="384048" y="1024128"/>
              <a:ext cx="3739896" cy="713232"/>
            </a:xfrm>
            <a:prstGeom prst="roundRect">
              <a:avLst>
                <a:gd name="adj" fmla="val 9615"/>
              </a:avLst>
            </a:prstGeom>
            <a:solidFill>
              <a:srgbClr val="FFFFFF"/>
            </a:solidFill>
            <a:ln w="12700">
              <a:solidFill>
                <a:srgbClr val="86ACCF"/>
              </a:solidFill>
            </a:ln>
            <a:effectLst/>
          </p:spPr>
          <p:txBody>
            <a:bodyPr rtlCol="0" anchor="ctr"/>
            <a:lstStyle/>
            <a:p>
              <a:pPr algn="ctr"/>
            </a:p>
          </p:txBody>
        </p:sp>
        <p:sp>
          <p:nvSpPr>
            <p:cNvPr id="15" name="A/Inputs/Title"/>
            <p:cNvSpPr txBox="1"/>
            <p:nvPr/>
          </p:nvSpPr>
          <p:spPr>
            <a:xfrm>
              <a:off x="502920" y="1078992"/>
              <a:ext cx="3502152" cy="265176"/>
            </a:xfrm>
            <a:prstGeom prst="rect">
              <a:avLst/>
            </a:prstGeom>
            <a:noFill/>
          </p:spPr>
          <p:txBody>
            <a:bodyPr wrap="none" lIns="0" rIns="0" tIns="0" bIns="0" anchor="ctr">
              <a:noAutofit/>
            </a:bodyPr>
            <a:lstStyle/>
            <a:p>
              <a:pPr algn="ctr">
                <a:lnSpc>
                  <a:spcPct val="103000"/>
                </a:lnSpc>
                <a:spcBef>
                  <a:spcPts val="0"/>
                </a:spcBef>
                <a:spcAft>
                  <a:spcPts val="0"/>
                </a:spcAft>
              </a:pPr>
              <a:r>
                <a:rPr sz="2150" b="1" i="0" lang="en-US" dirty="0">
                  <a:solidFill>
                    <a:srgbClr val="203346"/>
                  </a:solidFill>
                  <a:latin typeface="Arial"/>
                  <a:ea typeface="Arial"/>
                  <a:cs typeface="Arial"/>
                </a:rPr>
                <a:t>Question Q + evidence E</a:t>
              </a:r>
            </a:p>
          </p:txBody>
        </p:sp>
        <p:sp>
          <p:nvSpPr>
            <p:cNvPr id="16" name="A/Inputs/Sources"/>
            <p:cNvSpPr txBox="1"/>
            <p:nvPr/>
          </p:nvSpPr>
          <p:spPr>
            <a:xfrm>
              <a:off x="411480" y="1417320"/>
              <a:ext cx="3685032" cy="228600"/>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526270"/>
                  </a:solidFill>
                  <a:latin typeface="Arial"/>
                  <a:ea typeface="Arial"/>
                  <a:cs typeface="Arial"/>
                </a:rPr>
                <a:t>PubMedQA · SciFact · ContractNLI</a:t>
              </a:r>
            </a:p>
          </p:txBody>
        </p:sp>
        <p:cxnSp>
          <p:nvCxnSpPr>
            <p:cNvPr id="17" name="A/InputsToM"/>
            <p:cNvCxnSpPr/>
            <p:nvPr/>
          </p:nvCxnSpPr>
          <p:spPr>
            <a:xfrm>
              <a:off x="2258568" y="1755648"/>
              <a:ext cx="0" cy="210312"/>
            </a:xfrm>
            <a:prstGeom prst="line">
              <a:avLst/>
            </a:prstGeom>
            <a:ln w="19050" cap="rnd">
              <a:solidFill>
                <a:srgbClr val="526270"/>
              </a:solidFill>
              <a:tailEnd type="triangle" w="sm" len="sm"/>
            </a:ln>
          </p:spPr>
        </p:cxnSp>
        <p:sp>
          <p:nvSpPr>
            <p:cNvPr id="18" name="A/M"/>
            <p:cNvSpPr/>
            <p:nvPr/>
          </p:nvSpPr>
          <p:spPr>
            <a:xfrm>
              <a:off x="1024128" y="2002536"/>
              <a:ext cx="2459736" cy="676656"/>
            </a:xfrm>
            <a:prstGeom prst="roundRect">
              <a:avLst>
                <a:gd name="adj" fmla="val 11486"/>
              </a:avLst>
            </a:prstGeom>
            <a:solidFill>
              <a:srgbClr val="FFFFFF"/>
            </a:solidFill>
            <a:ln w="16510">
              <a:solidFill>
                <a:srgbClr val="2768A5"/>
              </a:solidFill>
            </a:ln>
            <a:effectLst/>
          </p:spPr>
          <p:txBody>
            <a:bodyPr rtlCol="0" anchor="ctr"/>
            <a:lstStyle/>
            <a:p>
              <a:pPr algn="ctr"/>
            </a:p>
          </p:txBody>
        </p:sp>
        <p:grpSp>
          <p:nvGrpSpPr>
            <p:cNvPr id="19" name="A/Chip"/>
            <p:cNvGrpSpPr/>
            <p:nvPr/>
          </p:nvGrpSpPr>
          <p:grpSpPr>
            <a:xfrm>
              <a:off x="1229502" y="2134758"/>
              <a:ext cx="412211" cy="412211"/>
              <a:chOff x="1229502" y="2134758"/>
              <a:chExt cx="412211" cy="412211"/>
            </a:xfrm>
          </p:grpSpPr>
          <p:sp>
            <p:nvSpPr>
              <p:cNvPr id="20" name="A/Chip/Core"/>
              <p:cNvSpPr/>
              <p:nvPr/>
            </p:nvSpPr>
            <p:spPr>
              <a:xfrm>
                <a:off x="1301008" y="2206264"/>
                <a:ext cx="269199" cy="269199"/>
              </a:xfrm>
              <a:prstGeom prst="roundRect">
                <a:avLst>
                  <a:gd name="adj" fmla="val 15285"/>
                </a:avLst>
              </a:prstGeom>
              <a:solidFill>
                <a:srgbClr val="FFFFFF"/>
              </a:solidFill>
              <a:ln w="17145">
                <a:solidFill>
                  <a:srgbClr val="2768A5"/>
                </a:solidFill>
              </a:ln>
              <a:effectLst/>
            </p:spPr>
            <p:txBody>
              <a:bodyPr rtlCol="0" anchor="ctr"/>
              <a:lstStyle/>
              <a:p>
                <a:pPr algn="ctr"/>
              </a:p>
            </p:txBody>
          </p:sp>
          <p:cxnSp>
            <p:nvCxnSpPr>
              <p:cNvPr id="21" name="A/Chip/PinL-0.2"/>
              <p:cNvCxnSpPr/>
              <p:nvPr/>
            </p:nvCxnSpPr>
            <p:spPr>
              <a:xfrm>
                <a:off x="1229502" y="2256739"/>
                <a:ext cx="63093" cy="0"/>
              </a:xfrm>
              <a:prstGeom prst="line">
                <a:avLst/>
              </a:prstGeom>
              <a:ln w="13970" cap="rnd">
                <a:solidFill>
                  <a:srgbClr val="2768A5"/>
                </a:solidFill>
              </a:ln>
            </p:spPr>
          </p:cxnSp>
          <p:cxnSp>
            <p:nvCxnSpPr>
              <p:cNvPr id="22" name="A/Chip/PinR-0.2"/>
              <p:cNvCxnSpPr/>
              <p:nvPr/>
            </p:nvCxnSpPr>
            <p:spPr>
              <a:xfrm>
                <a:off x="1578620" y="2256739"/>
                <a:ext cx="63093" cy="0"/>
              </a:xfrm>
              <a:prstGeom prst="line">
                <a:avLst/>
              </a:prstGeom>
              <a:ln w="13970" cap="rnd">
                <a:solidFill>
                  <a:srgbClr val="2768A5"/>
                </a:solidFill>
              </a:ln>
            </p:spPr>
          </p:cxnSp>
          <p:cxnSp>
            <p:nvCxnSpPr>
              <p:cNvPr id="23" name="A/Chip/PinT-0.2"/>
              <p:cNvCxnSpPr/>
              <p:nvPr/>
            </p:nvCxnSpPr>
            <p:spPr>
              <a:xfrm>
                <a:off x="1351483" y="2134758"/>
                <a:ext cx="0" cy="63093"/>
              </a:xfrm>
              <a:prstGeom prst="line">
                <a:avLst/>
              </a:prstGeom>
              <a:ln w="13970" cap="rnd">
                <a:solidFill>
                  <a:srgbClr val="2768A5"/>
                </a:solidFill>
              </a:ln>
            </p:spPr>
          </p:cxnSp>
          <p:cxnSp>
            <p:nvCxnSpPr>
              <p:cNvPr id="24" name="A/Chip/PinB-0.2"/>
              <p:cNvCxnSpPr/>
              <p:nvPr/>
            </p:nvCxnSpPr>
            <p:spPr>
              <a:xfrm>
                <a:off x="1351483" y="2483876"/>
                <a:ext cx="0" cy="63093"/>
              </a:xfrm>
              <a:prstGeom prst="line">
                <a:avLst/>
              </a:prstGeom>
              <a:ln w="13970" cap="rnd">
                <a:solidFill>
                  <a:srgbClr val="2768A5"/>
                </a:solidFill>
              </a:ln>
            </p:spPr>
          </p:cxnSp>
          <p:cxnSp>
            <p:nvCxnSpPr>
              <p:cNvPr id="25" name="A/Chip/PinL0"/>
              <p:cNvCxnSpPr/>
              <p:nvPr/>
            </p:nvCxnSpPr>
            <p:spPr>
              <a:xfrm>
                <a:off x="1229502" y="2340864"/>
                <a:ext cx="63093" cy="0"/>
              </a:xfrm>
              <a:prstGeom prst="line">
                <a:avLst/>
              </a:prstGeom>
              <a:ln w="13970" cap="rnd">
                <a:solidFill>
                  <a:srgbClr val="2768A5"/>
                </a:solidFill>
              </a:ln>
            </p:spPr>
          </p:cxnSp>
          <p:cxnSp>
            <p:nvCxnSpPr>
              <p:cNvPr id="26" name="A/Chip/PinR0"/>
              <p:cNvCxnSpPr/>
              <p:nvPr/>
            </p:nvCxnSpPr>
            <p:spPr>
              <a:xfrm>
                <a:off x="1578620" y="2340864"/>
                <a:ext cx="63093" cy="0"/>
              </a:xfrm>
              <a:prstGeom prst="line">
                <a:avLst/>
              </a:prstGeom>
              <a:ln w="13970" cap="rnd">
                <a:solidFill>
                  <a:srgbClr val="2768A5"/>
                </a:solidFill>
              </a:ln>
            </p:spPr>
          </p:cxnSp>
          <p:cxnSp>
            <p:nvCxnSpPr>
              <p:cNvPr id="27" name="A/Chip/PinT0"/>
              <p:cNvCxnSpPr/>
              <p:nvPr/>
            </p:nvCxnSpPr>
            <p:spPr>
              <a:xfrm>
                <a:off x="1435608" y="2134758"/>
                <a:ext cx="0" cy="63093"/>
              </a:xfrm>
              <a:prstGeom prst="line">
                <a:avLst/>
              </a:prstGeom>
              <a:ln w="13970" cap="rnd">
                <a:solidFill>
                  <a:srgbClr val="2768A5"/>
                </a:solidFill>
              </a:ln>
            </p:spPr>
          </p:cxnSp>
          <p:cxnSp>
            <p:nvCxnSpPr>
              <p:cNvPr id="28" name="A/Chip/PinB0"/>
              <p:cNvCxnSpPr/>
              <p:nvPr/>
            </p:nvCxnSpPr>
            <p:spPr>
              <a:xfrm>
                <a:off x="1435608" y="2483876"/>
                <a:ext cx="0" cy="63093"/>
              </a:xfrm>
              <a:prstGeom prst="line">
                <a:avLst/>
              </a:prstGeom>
              <a:ln w="13970" cap="rnd">
                <a:solidFill>
                  <a:srgbClr val="2768A5"/>
                </a:solidFill>
              </a:ln>
            </p:spPr>
          </p:cxnSp>
          <p:cxnSp>
            <p:nvCxnSpPr>
              <p:cNvPr id="29" name="A/Chip/PinL0.2"/>
              <p:cNvCxnSpPr/>
              <p:nvPr/>
            </p:nvCxnSpPr>
            <p:spPr>
              <a:xfrm>
                <a:off x="1229502" y="2424988"/>
                <a:ext cx="63093" cy="0"/>
              </a:xfrm>
              <a:prstGeom prst="line">
                <a:avLst/>
              </a:prstGeom>
              <a:ln w="13970" cap="rnd">
                <a:solidFill>
                  <a:srgbClr val="2768A5"/>
                </a:solidFill>
              </a:ln>
            </p:spPr>
          </p:cxnSp>
          <p:cxnSp>
            <p:nvCxnSpPr>
              <p:cNvPr id="30" name="A/Chip/PinR0.2"/>
              <p:cNvCxnSpPr/>
              <p:nvPr/>
            </p:nvCxnSpPr>
            <p:spPr>
              <a:xfrm>
                <a:off x="1578620" y="2424988"/>
                <a:ext cx="63093" cy="0"/>
              </a:xfrm>
              <a:prstGeom prst="line">
                <a:avLst/>
              </a:prstGeom>
              <a:ln w="13970" cap="rnd">
                <a:solidFill>
                  <a:srgbClr val="2768A5"/>
                </a:solidFill>
              </a:ln>
            </p:spPr>
          </p:cxnSp>
          <p:cxnSp>
            <p:nvCxnSpPr>
              <p:cNvPr id="31" name="A/Chip/PinT0.2"/>
              <p:cNvCxnSpPr/>
              <p:nvPr/>
            </p:nvCxnSpPr>
            <p:spPr>
              <a:xfrm>
                <a:off x="1519732" y="2134758"/>
                <a:ext cx="0" cy="63093"/>
              </a:xfrm>
              <a:prstGeom prst="line">
                <a:avLst/>
              </a:prstGeom>
              <a:ln w="13970" cap="rnd">
                <a:solidFill>
                  <a:srgbClr val="2768A5"/>
                </a:solidFill>
              </a:ln>
            </p:spPr>
          </p:cxnSp>
          <p:cxnSp>
            <p:nvCxnSpPr>
              <p:cNvPr id="32" name="A/Chip/PinB0.2"/>
              <p:cNvCxnSpPr/>
              <p:nvPr/>
            </p:nvCxnSpPr>
            <p:spPr>
              <a:xfrm>
                <a:off x="1519732" y="2483876"/>
                <a:ext cx="0" cy="63093"/>
              </a:xfrm>
              <a:prstGeom prst="line">
                <a:avLst/>
              </a:prstGeom>
              <a:ln w="13970" cap="rnd">
                <a:solidFill>
                  <a:srgbClr val="2768A5"/>
                </a:solidFill>
              </a:ln>
            </p:spPr>
          </p:cxnSp>
          <p:sp>
            <p:nvSpPr>
              <p:cNvPr id="33" name="A/Chip/Trace1"/>
              <p:cNvSpPr/>
              <p:nvPr/>
            </p:nvSpPr>
            <p:spPr>
              <a:xfrm>
                <a:off x="1364101" y="2286182"/>
                <a:ext cx="134600" cy="96744"/>
              </a:xfrm>
              <a:custGeom>
                <a:avLst/>
                <a:gdLst/>
                <a:ahLst/>
                <a:cxnLst/>
                <a:rect l="l" t="t" r="r" b="b"/>
                <a:pathLst>
                  <a:path w="134600" h="96744">
                    <a:moveTo>
                      <a:pt x="0" y="0"/>
                    </a:moveTo>
                    <a:lnTo>
                      <a:pt x="71507" y="0"/>
                    </a:lnTo>
                    <a:lnTo>
                      <a:pt x="71507" y="96744"/>
                    </a:lnTo>
                    <a:lnTo>
                      <a:pt x="134600" y="96744"/>
                    </a:lnTo>
                  </a:path>
                </a:pathLst>
              </a:custGeom>
              <a:noFill/>
              <a:ln w="12700" cap="rnd">
                <a:solidFill>
                  <a:srgbClr val="2768A5"/>
                </a:solidFill>
                <a:round/>
              </a:ln>
              <a:effectLst/>
            </p:spPr>
            <p:txBody>
              <a:bodyPr rtlCol="0" anchor="ctr"/>
              <a:lstStyle/>
              <a:p>
                <a:pPr algn="ctr"/>
              </a:p>
            </p:txBody>
          </p:sp>
          <p:sp>
            <p:nvSpPr>
              <p:cNvPr id="34" name="A/Chip/Trace2"/>
              <p:cNvSpPr/>
              <p:nvPr/>
            </p:nvSpPr>
            <p:spPr>
              <a:xfrm>
                <a:off x="1368308" y="2349276"/>
                <a:ext cx="37856" cy="54681"/>
              </a:xfrm>
              <a:custGeom>
                <a:avLst/>
                <a:gdLst/>
                <a:ahLst/>
                <a:cxnLst/>
                <a:rect l="l" t="t" r="r" b="b"/>
                <a:pathLst>
                  <a:path w="37856" h="54681">
                    <a:moveTo>
                      <a:pt x="0" y="54681"/>
                    </a:moveTo>
                    <a:lnTo>
                      <a:pt x="37856" y="54681"/>
                    </a:lnTo>
                    <a:lnTo>
                      <a:pt x="37856" y="0"/>
                    </a:lnTo>
                  </a:path>
                </a:pathLst>
              </a:custGeom>
              <a:noFill/>
              <a:ln w="12700" cap="rnd">
                <a:solidFill>
                  <a:srgbClr val="2768A5"/>
                </a:solidFill>
                <a:round/>
              </a:ln>
              <a:effectLst/>
            </p:spPr>
            <p:txBody>
              <a:bodyPr rtlCol="0" anchor="ctr"/>
              <a:lstStyle/>
              <a:p>
                <a:pPr algn="ctr"/>
              </a:p>
            </p:txBody>
          </p:sp>
        </p:grpSp>
        <p:sp>
          <p:nvSpPr>
            <p:cNvPr id="35" name="A/Model"/>
            <p:cNvSpPr txBox="1"/>
            <p:nvPr/>
          </p:nvSpPr>
          <p:spPr>
            <a:xfrm>
              <a:off x="1810512" y="2084831"/>
              <a:ext cx="1481328" cy="43891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768A5"/>
                  </a:solidFill>
                  <a:latin typeface="Arial"/>
                  <a:ea typeface="Arial"/>
                  <a:cs typeface="Arial"/>
                </a:rPr>
                <a:t>Model </a:t>
              </a:r>
              <a:r>
                <a:rPr sz="2500" b="1" i="1" lang="en-US" dirty="0">
                  <a:solidFill>
                    <a:srgbClr val="2768A5"/>
                  </a:solidFill>
                  <a:latin typeface="Times New Roman"/>
                  <a:ea typeface="Times New Roman"/>
                  <a:cs typeface="Times New Roman"/>
                </a:rPr>
                <a:t>M</a:t>
              </a:r>
            </a:p>
          </p:txBody>
        </p:sp>
        <p:cxnSp>
          <p:nvCxnSpPr>
            <p:cNvPr id="36" name="A/MToY1"/>
            <p:cNvCxnSpPr/>
            <p:nvPr/>
          </p:nvCxnSpPr>
          <p:spPr>
            <a:xfrm>
              <a:off x="1618488" y="2697480"/>
              <a:ext cx="0" cy="265176"/>
            </a:xfrm>
            <a:prstGeom prst="line">
              <a:avLst/>
            </a:prstGeom>
            <a:ln w="17780" cap="rnd">
              <a:solidFill>
                <a:srgbClr val="2768A5"/>
              </a:solidFill>
              <a:tailEnd type="triangle" w="sm" len="sm"/>
            </a:ln>
          </p:spPr>
        </p:cxnSp>
        <p:cxnSp>
          <p:nvCxnSpPr>
            <p:cNvPr id="37" name="A/MToR1"/>
            <p:cNvCxnSpPr/>
            <p:nvPr/>
          </p:nvCxnSpPr>
          <p:spPr>
            <a:xfrm>
              <a:off x="2971800" y="2697480"/>
              <a:ext cx="0" cy="265176"/>
            </a:xfrm>
            <a:prstGeom prst="line">
              <a:avLst/>
            </a:prstGeom>
            <a:ln w="16510" cap="rnd">
              <a:solidFill>
                <a:srgbClr val="72618C"/>
              </a:solidFill>
              <a:tailEnd type="triangle" w="sm" len="sm"/>
            </a:ln>
          </p:spPr>
        </p:cxnSp>
        <p:sp>
          <p:nvSpPr>
            <p:cNvPr id="38" name="A/Y1"/>
            <p:cNvSpPr/>
            <p:nvPr/>
          </p:nvSpPr>
          <p:spPr>
            <a:xfrm>
              <a:off x="813816" y="2999232"/>
              <a:ext cx="1609344" cy="649224"/>
            </a:xfrm>
            <a:prstGeom prst="roundRect">
              <a:avLst>
                <a:gd name="adj" fmla="val 10563"/>
              </a:avLst>
            </a:prstGeom>
            <a:solidFill>
              <a:srgbClr val="ECF4FC"/>
            </a:solidFill>
            <a:ln w="15240">
              <a:solidFill>
                <a:srgbClr val="2768A5"/>
              </a:solidFill>
            </a:ln>
            <a:effectLst/>
          </p:spPr>
          <p:txBody>
            <a:bodyPr rtlCol="0" anchor="ctr"/>
            <a:lstStyle/>
            <a:p>
              <a:pPr algn="ctr"/>
            </a:p>
          </p:txBody>
        </p:sp>
        <p:sp>
          <p:nvSpPr>
            <p:cNvPr id="39" name="A/Y1/Title"/>
            <p:cNvSpPr txBox="1"/>
            <p:nvPr/>
          </p:nvSpPr>
          <p:spPr>
            <a:xfrm>
              <a:off x="914400" y="3063240"/>
              <a:ext cx="1408176" cy="228600"/>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2768A5"/>
                  </a:solidFill>
                  <a:latin typeface="Arial"/>
                  <a:ea typeface="Arial"/>
                  <a:cs typeface="Arial"/>
                </a:rPr>
                <a:t>Initial</a:t>
              </a:r>
            </a:p>
          </p:txBody>
        </p:sp>
        <p:sp>
          <p:nvSpPr>
            <p:cNvPr id="40" name="A/Y1/Symbol"/>
            <p:cNvSpPr txBox="1"/>
            <p:nvPr/>
          </p:nvSpPr>
          <p:spPr>
            <a:xfrm>
              <a:off x="914400" y="3319272"/>
              <a:ext cx="1408176" cy="265176"/>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203346"/>
                  </a:solidFill>
                  <a:latin typeface="Times New Roman"/>
                  <a:ea typeface="Times New Roman"/>
                  <a:cs typeface="Times New Roman"/>
                </a:rPr>
                <a:t>Y₁</a:t>
              </a:r>
            </a:p>
          </p:txBody>
        </p:sp>
        <p:sp>
          <p:nvSpPr>
            <p:cNvPr id="41" name="A/R1"/>
            <p:cNvSpPr/>
            <p:nvPr/>
          </p:nvSpPr>
          <p:spPr>
            <a:xfrm>
              <a:off x="2642616" y="2999232"/>
              <a:ext cx="1362456" cy="649224"/>
            </a:xfrm>
            <a:prstGeom prst="roundRect">
              <a:avLst>
                <a:gd name="adj" fmla="val 10563"/>
              </a:avLst>
            </a:prstGeom>
            <a:solidFill>
              <a:srgbClr val="F4F0F8"/>
            </a:solidFill>
            <a:ln w="12700">
              <a:solidFill>
                <a:srgbClr val="B9AACC"/>
              </a:solidFill>
              <a:prstDash val="dash"/>
            </a:ln>
            <a:effectLst/>
          </p:spPr>
          <p:txBody>
            <a:bodyPr rtlCol="0" anchor="ctr"/>
            <a:lstStyle/>
            <a:p>
              <a:pPr algn="ctr"/>
            </a:p>
          </p:txBody>
        </p:sp>
        <p:sp>
          <p:nvSpPr>
            <p:cNvPr id="42" name="A/R1/Title"/>
            <p:cNvSpPr txBox="1"/>
            <p:nvPr/>
          </p:nvSpPr>
          <p:spPr>
            <a:xfrm>
              <a:off x="2715768" y="3063240"/>
              <a:ext cx="1216152" cy="228600"/>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72618C"/>
                  </a:solidFill>
                  <a:latin typeface="Arial"/>
                  <a:ea typeface="Arial"/>
                  <a:cs typeface="Arial"/>
                </a:rPr>
                <a:t>Rationale</a:t>
              </a:r>
            </a:p>
          </p:txBody>
        </p:sp>
        <p:sp>
          <p:nvSpPr>
            <p:cNvPr id="43" name="A/R1/Symbol"/>
            <p:cNvSpPr txBox="1"/>
            <p:nvPr/>
          </p:nvSpPr>
          <p:spPr>
            <a:xfrm>
              <a:off x="2715768" y="3319272"/>
              <a:ext cx="1216152" cy="265176"/>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72618C"/>
                  </a:solidFill>
                  <a:latin typeface="Times New Roman"/>
                  <a:ea typeface="Times New Roman"/>
                  <a:cs typeface="Times New Roman"/>
                </a:rPr>
                <a:t>R₁</a:t>
              </a:r>
            </a:p>
          </p:txBody>
        </p:sp>
        <p:cxnSp>
          <p:nvCxnSpPr>
            <p:cNvPr id="44" name="A/R1ToLog"/>
            <p:cNvCxnSpPr/>
            <p:nvPr/>
          </p:nvCxnSpPr>
          <p:spPr>
            <a:xfrm>
              <a:off x="3319272" y="3675887"/>
              <a:ext cx="0" cy="237745"/>
            </a:xfrm>
            <a:prstGeom prst="line">
              <a:avLst/>
            </a:prstGeom>
            <a:ln w="13970" cap="rnd">
              <a:solidFill>
                <a:srgbClr val="72618C"/>
              </a:solidFill>
              <a:prstDash val="dash"/>
              <a:tailEnd type="triangle" w="sm" len="sm"/>
            </a:ln>
          </p:spPr>
        </p:cxnSp>
        <p:sp>
          <p:nvSpPr>
            <p:cNvPr id="45" name="A/R1/Log"/>
            <p:cNvSpPr txBox="1"/>
            <p:nvPr/>
          </p:nvSpPr>
          <p:spPr>
            <a:xfrm>
              <a:off x="2505456" y="3895344"/>
              <a:ext cx="1636776" cy="530352"/>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72618C"/>
                  </a:solidFill>
                  <a:latin typeface="Arial"/>
                  <a:ea typeface="Arial"/>
                  <a:cs typeface="Arial"/>
                </a:rPr>
                <a:t>Logged only;</a:t>
              </a:r>
            </a:p>
            <a:p>
              <a:pPr algn="ctr">
                <a:lnSpc>
                  <a:spcPct val="103000"/>
                </a:lnSpc>
                <a:spcBef>
                  <a:spcPts val="0"/>
                </a:spcBef>
                <a:spcAft>
                  <a:spcPts val="0"/>
                </a:spcAft>
              </a:pPr>
              <a:r>
                <a:rPr sz="1850" b="0" i="0" lang="en-US" dirty="0">
                  <a:solidFill>
                    <a:srgbClr val="72618C"/>
                  </a:solidFill>
                  <a:latin typeface="Arial"/>
                  <a:ea typeface="Arial"/>
                  <a:cs typeface="Arial"/>
                </a:rPr>
                <a:t>not reused.</a:t>
              </a:r>
            </a:p>
          </p:txBody>
        </p:sp>
        <p:sp>
          <p:nvSpPr>
            <p:cNvPr id="46" name="A/Score"/>
            <p:cNvSpPr/>
            <p:nvPr/>
          </p:nvSpPr>
          <p:spPr>
            <a:xfrm>
              <a:off x="384048" y="4791456"/>
              <a:ext cx="3739896" cy="950976"/>
            </a:xfrm>
            <a:prstGeom prst="roundRect">
              <a:avLst>
                <a:gd name="adj" fmla="val 7692"/>
              </a:avLst>
            </a:prstGeom>
            <a:solidFill>
              <a:srgbClr val="F4F0F8"/>
            </a:solidFill>
            <a:ln w="12700">
              <a:solidFill>
                <a:srgbClr val="B9AACC"/>
              </a:solidFill>
              <a:prstDash val="dash"/>
            </a:ln>
            <a:effectLst/>
          </p:spPr>
          <p:txBody>
            <a:bodyPr rtlCol="0" anchor="ctr"/>
            <a:lstStyle/>
            <a:p>
              <a:pPr algn="ctr"/>
            </a:p>
          </p:txBody>
        </p:sp>
        <p:sp>
          <p:nvSpPr>
            <p:cNvPr id="47" name="A/Score/Title"/>
            <p:cNvSpPr txBox="1"/>
            <p:nvPr/>
          </p:nvSpPr>
          <p:spPr>
            <a:xfrm>
              <a:off x="530352" y="4901184"/>
              <a:ext cx="3447288" cy="237744"/>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72618C"/>
                  </a:solidFill>
                  <a:latin typeface="Arial"/>
                  <a:ea typeface="Arial"/>
                  <a:cs typeface="Arial"/>
                </a:rPr>
                <a:t>Pass-1 teacher-forced score</a:t>
              </a:r>
            </a:p>
          </p:txBody>
        </p:sp>
        <p:sp>
          <p:nvSpPr>
            <p:cNvPr id="48" name="A/Score/Formula"/>
            <p:cNvSpPr txBox="1"/>
            <p:nvPr/>
          </p:nvSpPr>
          <p:spPr>
            <a:xfrm>
              <a:off x="493776" y="5285232"/>
              <a:ext cx="3520440" cy="320040"/>
            </a:xfrm>
            <a:prstGeom prst="rect">
              <a:avLst/>
            </a:prstGeom>
            <a:noFill/>
          </p:spPr>
          <p:txBody>
            <a:bodyPr wrap="none" lIns="0" rIns="0" tIns="0" bIns="0" anchor="ctr">
              <a:noAutofit/>
            </a:bodyPr>
            <a:lstStyle/>
            <a:p>
              <a:pPr algn="ctr">
                <a:lnSpc>
                  <a:spcPct val="103000"/>
                </a:lnSpc>
                <a:spcBef>
                  <a:spcPts val="0"/>
                </a:spcBef>
                <a:spcAft>
                  <a:spcPts val="0"/>
                </a:spcAft>
              </a:pPr>
              <a:r>
                <a:rPr sz="2350" b="0" i="0" lang="en-US" dirty="0">
                  <a:solidFill>
                    <a:srgbClr val="72618C"/>
                  </a:solidFill>
                  <a:latin typeface="Times New Roman"/>
                  <a:ea typeface="Times New Roman"/>
                  <a:cs typeface="Times New Roman"/>
                </a:rPr>
                <a:t>ℓ₁ = log P(Yes) − log P(No)</a:t>
              </a:r>
            </a:p>
          </p:txBody>
        </p:sp>
        <p:sp>
          <p:nvSpPr>
            <p:cNvPr id="49" name="A/PromptToScore"/>
            <p:cNvSpPr/>
            <p:nvPr/>
          </p:nvSpPr>
          <p:spPr>
            <a:xfrm>
              <a:off x="512064" y="1737360"/>
              <a:ext cx="64008" cy="2953512"/>
            </a:xfrm>
            <a:custGeom>
              <a:avLst/>
              <a:gdLst/>
              <a:ahLst/>
              <a:cxnLst/>
              <a:rect l="l" t="t" r="r" b="b"/>
              <a:pathLst>
                <a:path w="64008" h="2953512">
                  <a:moveTo>
                    <a:pt x="64008" y="0"/>
                  </a:moveTo>
                  <a:lnTo>
                    <a:pt x="64008" y="146304"/>
                  </a:lnTo>
                  <a:lnTo>
                    <a:pt x="0" y="146304"/>
                  </a:lnTo>
                  <a:lnTo>
                    <a:pt x="0" y="2953512"/>
                  </a:lnTo>
                </a:path>
              </a:pathLst>
            </a:custGeom>
            <a:noFill/>
            <a:ln w="11430" cap="rnd">
              <a:solidFill>
                <a:srgbClr val="72618C"/>
              </a:solidFill>
              <a:round/>
              <a:prstDash val="dash"/>
            </a:ln>
            <a:effectLst/>
          </p:spPr>
          <p:txBody>
            <a:bodyPr rtlCol="0" anchor="ctr"/>
            <a:lstStyle/>
            <a:p>
              <a:pPr algn="ctr"/>
            </a:p>
          </p:txBody>
        </p:sp>
        <p:cxnSp>
          <p:nvCxnSpPr>
            <p:cNvPr id="50" name="A/PromptToScore/Head"/>
            <p:cNvCxnSpPr/>
            <p:nvPr/>
          </p:nvCxnSpPr>
          <p:spPr>
            <a:xfrm>
              <a:off x="512064" y="4690872"/>
              <a:ext cx="0" cy="82296"/>
            </a:xfrm>
            <a:prstGeom prst="line">
              <a:avLst/>
            </a:prstGeom>
            <a:ln w="12700" cap="rnd">
              <a:solidFill>
                <a:srgbClr val="72618C"/>
              </a:solidFill>
              <a:prstDash val="dash"/>
              <a:tailEnd type="triangle" w="sm" len="sm"/>
            </a:ln>
          </p:spPr>
        </p:cxnSp>
        <p:sp>
          <p:nvSpPr>
            <p:cNvPr id="70" name="A/Y1/ReuseLabel"/>
            <p:cNvSpPr txBox="1"/>
            <p:nvPr/>
          </p:nvSpPr>
          <p:spPr>
            <a:xfrm>
              <a:off x="822960" y="3867912"/>
              <a:ext cx="1691640" cy="292608"/>
            </a:xfrm>
            <a:prstGeom prst="rect">
              <a:avLst/>
            </a:prstGeom>
            <a:noFill/>
          </p:spPr>
          <p:txBody>
            <a:bodyPr wrap="none" lIns="0" rIns="0" tIns="0" bIns="0" anchor="ctr">
              <a:noAutofit/>
            </a:bodyPr>
            <a:lstStyle/>
            <a:p>
              <a:pPr algn="l">
                <a:lnSpc>
                  <a:spcPct val="103000"/>
                </a:lnSpc>
                <a:spcBef>
                  <a:spcPts val="0"/>
                </a:spcBef>
                <a:spcAft>
                  <a:spcPts val="0"/>
                </a:spcAft>
              </a:pPr>
              <a:r>
                <a:rPr sz="1850" b="1" i="0" lang="en-US" dirty="0">
                  <a:solidFill>
                    <a:srgbClr val="2768A5"/>
                  </a:solidFill>
                  <a:latin typeface="Arial"/>
                  <a:ea typeface="Arial"/>
                  <a:cs typeface="Arial"/>
                </a:rPr>
                <a:t>Reuse Y₁ only</a:t>
              </a:r>
            </a:p>
          </p:txBody>
        </p:sp>
      </p:grpSp>
      <p:grpSp>
        <p:nvGrpSpPr>
          <p:cNvPr id="3" name="B | Pass 2 and auxiliary logs"/>
          <p:cNvGrpSpPr/>
          <p:nvPr/>
        </p:nvGrpSpPr>
        <p:grpSpPr>
          <a:xfrm>
            <a:off x="4773168" y="155448"/>
            <a:ext cx="4590288" cy="5824728"/>
            <a:chOff x="4773168" y="155448"/>
            <a:chExt cx="4590288" cy="5824728"/>
          </a:xfrm>
        </p:grpSpPr>
        <p:sp>
          <p:nvSpPr>
            <p:cNvPr id="8" name="B/Header/Letter"/>
            <p:cNvSpPr txBox="1"/>
            <p:nvPr/>
          </p:nvSpPr>
          <p:spPr>
            <a:xfrm>
              <a:off x="4773168"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b</a:t>
              </a:r>
            </a:p>
          </p:txBody>
        </p:sp>
        <p:sp>
          <p:nvSpPr>
            <p:cNvPr id="9" name="B/Header/Title"/>
            <p:cNvSpPr txBox="1"/>
            <p:nvPr/>
          </p:nvSpPr>
          <p:spPr>
            <a:xfrm>
              <a:off x="5166359" y="155448"/>
              <a:ext cx="4187952"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Pass 2: matched revisions</a:t>
              </a:r>
            </a:p>
          </p:txBody>
        </p:sp>
        <p:sp>
          <p:nvSpPr>
            <p:cNvPr id="13" name="B/Panel"/>
            <p:cNvSpPr/>
            <p:nvPr/>
          </p:nvSpPr>
          <p:spPr>
            <a:xfrm>
              <a:off x="4773168" y="832104"/>
              <a:ext cx="4590288" cy="5148072"/>
            </a:xfrm>
            <a:prstGeom prst="roundRect">
              <a:avLst>
                <a:gd name="adj" fmla="val 2390"/>
              </a:avLst>
            </a:prstGeom>
            <a:solidFill>
              <a:srgbClr val="F7F9FA"/>
            </a:solidFill>
            <a:ln w="12700">
              <a:solidFill>
                <a:srgbClr val="B9C6CF"/>
              </a:solidFill>
            </a:ln>
            <a:effectLst/>
          </p:spPr>
          <p:txBody>
            <a:bodyPr rtlCol="0" anchor="ctr"/>
            <a:lstStyle/>
            <a:p>
              <a:pPr algn="ctr"/>
            </a:p>
          </p:txBody>
        </p:sp>
        <p:sp>
          <p:nvSpPr>
            <p:cNvPr id="51" name="B/Context"/>
            <p:cNvSpPr/>
            <p:nvPr/>
          </p:nvSpPr>
          <p:spPr>
            <a:xfrm>
              <a:off x="5001768" y="1024128"/>
              <a:ext cx="4133087" cy="1426464"/>
            </a:xfrm>
            <a:prstGeom prst="roundRect">
              <a:avLst>
                <a:gd name="adj" fmla="val 5448"/>
              </a:avLst>
            </a:prstGeom>
            <a:solidFill>
              <a:srgbClr val="EAF5F1"/>
            </a:solidFill>
            <a:ln w="12700">
              <a:solidFill>
                <a:srgbClr val="87B9AD"/>
              </a:solidFill>
            </a:ln>
            <a:effectLst/>
          </p:spPr>
          <p:txBody>
            <a:bodyPr rtlCol="0" anchor="ctr"/>
            <a:lstStyle/>
            <a:p>
              <a:pPr algn="ctr"/>
            </a:p>
          </p:txBody>
        </p:sp>
        <p:grpSp>
          <p:nvGrpSpPr>
            <p:cNvPr id="52" name="B/Context/Lock"/>
            <p:cNvGrpSpPr/>
            <p:nvPr/>
          </p:nvGrpSpPr>
          <p:grpSpPr>
            <a:xfrm>
              <a:off x="5215006" y="1207008"/>
              <a:ext cx="222747" cy="262523"/>
              <a:chOff x="5215006" y="1207008"/>
              <a:chExt cx="222747" cy="262523"/>
            </a:xfrm>
          </p:grpSpPr>
          <p:sp>
            <p:nvSpPr>
              <p:cNvPr id="53" name="B/Context/Lock/Shackle"/>
              <p:cNvSpPr/>
              <p:nvPr/>
            </p:nvSpPr>
            <p:spPr>
              <a:xfrm>
                <a:off x="5252130" y="1207008"/>
                <a:ext cx="148498" cy="140543"/>
              </a:xfrm>
              <a:custGeom>
                <a:avLst/>
                <a:gdLst/>
                <a:ahLst/>
                <a:cxnLst/>
                <a:rect l="0" t="0" r="r" b="b"/>
                <a:pathLst>
                  <a:path w="100000" h="100000" fill="none">
                    <a:moveTo>
                      <a:pt x="0" y="100000"/>
                    </a:moveTo>
                    <a:lnTo>
                      <a:pt x="0" y="57000"/>
                    </a:lnTo>
                    <a:cubicBezTo>
                      <a:pt x="0" y="-17000"/>
                      <a:pt x="100000" y="-17000"/>
                      <a:pt x="100000" y="57000"/>
                    </a:cubicBezTo>
                    <a:lnTo>
                      <a:pt x="100000" y="100000"/>
                    </a:lnTo>
                  </a:path>
                </a:pathLst>
              </a:custGeom>
              <a:noFill/>
              <a:ln w="19050" cap="rnd">
                <a:solidFill>
                  <a:srgbClr val="187D70"/>
                </a:solidFill>
                <a:round/>
              </a:ln>
              <a:effectLst/>
            </p:spPr>
            <p:txBody>
              <a:bodyPr rtlCol="0" anchor="ctr"/>
              <a:lstStyle/>
              <a:p>
                <a:pPr algn="ctr"/>
              </a:p>
            </p:txBody>
          </p:sp>
          <p:sp>
            <p:nvSpPr>
              <p:cNvPr id="54" name="B/Context/Lock/Body"/>
              <p:cNvSpPr/>
              <p:nvPr/>
            </p:nvSpPr>
            <p:spPr>
              <a:xfrm>
                <a:off x="5215006" y="1318381"/>
                <a:ext cx="222747" cy="151150"/>
              </a:xfrm>
              <a:prstGeom prst="roundRect">
                <a:avLst>
                  <a:gd name="adj" fmla="val 21173"/>
                </a:avLst>
              </a:prstGeom>
              <a:solidFill>
                <a:srgbClr val="187D70"/>
              </a:solidFill>
              <a:ln w="7620">
                <a:solidFill>
                  <a:srgbClr val="187D70"/>
                </a:solidFill>
              </a:ln>
              <a:effectLst/>
            </p:spPr>
            <p:txBody>
              <a:bodyPr rtlCol="0" anchor="ctr"/>
              <a:lstStyle/>
              <a:p>
                <a:pPr algn="ctr"/>
              </a:p>
            </p:txBody>
          </p:sp>
          <p:sp>
            <p:nvSpPr>
              <p:cNvPr id="55" name="B/Context/Lock/Key"/>
              <p:cNvSpPr/>
              <p:nvPr/>
            </p:nvSpPr>
            <p:spPr>
              <a:xfrm>
                <a:off x="5313121" y="1363461"/>
                <a:ext cx="31821" cy="31821"/>
              </a:xfrm>
              <a:prstGeom prst="ellipse">
                <a:avLst/>
              </a:prstGeom>
              <a:solidFill>
                <a:srgbClr val="FFFFFF"/>
              </a:solidFill>
              <a:ln>
                <a:noFill/>
              </a:ln>
              <a:effectLst/>
            </p:spPr>
            <p:txBody>
              <a:bodyPr rtlCol="0" anchor="ctr"/>
              <a:lstStyle/>
              <a:p>
                <a:pPr algn="ctr"/>
              </a:p>
            </p:txBody>
          </p:sp>
          <p:cxnSp>
            <p:nvCxnSpPr>
              <p:cNvPr id="56" name="B/Context/Lock/KeySlot"/>
              <p:cNvCxnSpPr/>
              <p:nvPr/>
            </p:nvCxnSpPr>
            <p:spPr>
              <a:xfrm>
                <a:off x="5329031" y="1384675"/>
                <a:ext cx="0" cy="29170"/>
              </a:xfrm>
              <a:prstGeom prst="line">
                <a:avLst/>
              </a:prstGeom>
              <a:ln w="11430" cap="rnd">
                <a:solidFill>
                  <a:srgbClr val="FFFFFF"/>
                </a:solidFill>
              </a:ln>
            </p:spPr>
          </p:cxnSp>
        </p:grpSp>
        <p:sp>
          <p:nvSpPr>
            <p:cNvPr id="57" name="B/Context/Title"/>
            <p:cNvSpPr txBox="1"/>
            <p:nvPr/>
          </p:nvSpPr>
          <p:spPr>
            <a:xfrm>
              <a:off x="5596128" y="1115568"/>
              <a:ext cx="3310128" cy="365760"/>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187D70"/>
                  </a:solidFill>
                  <a:latin typeface="Arial"/>
                  <a:ea typeface="Arial"/>
                  <a:cs typeface="Arial"/>
                </a:rPr>
                <a:t>Reuse Q, E, and Y₁</a:t>
              </a:r>
            </a:p>
          </p:txBody>
        </p:sp>
        <p:sp>
          <p:nvSpPr>
            <p:cNvPr id="58" name="B/Context/A₀"/>
            <p:cNvSpPr/>
            <p:nvPr/>
          </p:nvSpPr>
          <p:spPr>
            <a:xfrm>
              <a:off x="5184648" y="1664208"/>
              <a:ext cx="1152144" cy="420624"/>
            </a:xfrm>
            <a:prstGeom prst="roundRect">
              <a:avLst>
                <a:gd name="adj" fmla="val 13043"/>
              </a:avLst>
            </a:prstGeom>
            <a:solidFill>
              <a:srgbClr val="F1F4F6"/>
            </a:solidFill>
            <a:ln w="10160">
              <a:solidFill>
                <a:srgbClr val="66737D"/>
              </a:solidFill>
            </a:ln>
            <a:effectLst/>
          </p:spPr>
          <p:txBody>
            <a:bodyPr rtlCol="0" anchor="ctr"/>
            <a:lstStyle/>
            <a:p>
              <a:pPr algn="ctr"/>
            </a:p>
          </p:txBody>
        </p:sp>
        <p:sp>
          <p:nvSpPr>
            <p:cNvPr id="59" name="B/Context/A₀/Label"/>
            <p:cNvSpPr txBox="1"/>
            <p:nvPr/>
          </p:nvSpPr>
          <p:spPr>
            <a:xfrm>
              <a:off x="5184648" y="1673352"/>
              <a:ext cx="1152144" cy="402336"/>
            </a:xfrm>
            <a:prstGeom prst="rect">
              <a:avLst/>
            </a:prstGeom>
            <a:noFill/>
          </p:spPr>
          <p:txBody>
            <a:bodyPr wrap="none" lIns="0" rIns="0" tIns="0" bIns="0" anchor="ctr">
              <a:noAutofit/>
            </a:bodyPr>
            <a:lstStyle/>
            <a:p>
              <a:pPr algn="ctr">
                <a:lnSpc>
                  <a:spcPct val="103000"/>
                </a:lnSpc>
                <a:spcBef>
                  <a:spcPts val="0"/>
                </a:spcBef>
                <a:spcAft>
                  <a:spcPts val="0"/>
                </a:spcAft>
              </a:pPr>
              <a:r>
                <a:rPr sz="2300" b="1" i="0" lang="en-US" dirty="0">
                  <a:solidFill>
                    <a:srgbClr val="66737D"/>
                  </a:solidFill>
                  <a:latin typeface="Arial"/>
                  <a:ea typeface="Arial"/>
                  <a:cs typeface="Arial"/>
                </a:rPr>
                <a:t>A₀</a:t>
              </a:r>
            </a:p>
          </p:txBody>
        </p:sp>
        <p:sp>
          <p:nvSpPr>
            <p:cNvPr id="60" name="B/Context/A₀/Name"/>
            <p:cNvSpPr txBox="1"/>
            <p:nvPr/>
          </p:nvSpPr>
          <p:spPr>
            <a:xfrm>
              <a:off x="5111496" y="2093976"/>
              <a:ext cx="1298448" cy="219456"/>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66737D"/>
                  </a:solidFill>
                  <a:latin typeface="Arial"/>
                  <a:ea typeface="Arial"/>
                  <a:cs typeface="Arial"/>
                </a:rPr>
                <a:t>Neutral</a:t>
              </a:r>
            </a:p>
          </p:txBody>
        </p:sp>
        <p:sp>
          <p:nvSpPr>
            <p:cNvPr id="61" name="B/Context/A₁"/>
            <p:cNvSpPr/>
            <p:nvPr/>
          </p:nvSpPr>
          <p:spPr>
            <a:xfrm>
              <a:off x="6473952" y="1664208"/>
              <a:ext cx="1152144" cy="420624"/>
            </a:xfrm>
            <a:prstGeom prst="roundRect">
              <a:avLst>
                <a:gd name="adj" fmla="val 13043"/>
              </a:avLst>
            </a:prstGeom>
            <a:solidFill>
              <a:srgbClr val="ECF4FC"/>
            </a:solidFill>
            <a:ln w="10160">
              <a:solidFill>
                <a:srgbClr val="2768A5"/>
              </a:solidFill>
            </a:ln>
            <a:effectLst/>
          </p:spPr>
          <p:txBody>
            <a:bodyPr rtlCol="0" anchor="ctr"/>
            <a:lstStyle/>
            <a:p>
              <a:pPr algn="ctr"/>
            </a:p>
          </p:txBody>
        </p:sp>
        <p:sp>
          <p:nvSpPr>
            <p:cNvPr id="62" name="B/Context/A₁/Label"/>
            <p:cNvSpPr txBox="1"/>
            <p:nvPr/>
          </p:nvSpPr>
          <p:spPr>
            <a:xfrm>
              <a:off x="6473952" y="1673352"/>
              <a:ext cx="1152144" cy="402336"/>
            </a:xfrm>
            <a:prstGeom prst="rect">
              <a:avLst/>
            </a:prstGeom>
            <a:noFill/>
          </p:spPr>
          <p:txBody>
            <a:bodyPr wrap="none" lIns="0" rIns="0" tIns="0" bIns="0" anchor="ctr">
              <a:noAutofit/>
            </a:bodyPr>
            <a:lstStyle/>
            <a:p>
              <a:pPr algn="ctr">
                <a:lnSpc>
                  <a:spcPct val="103000"/>
                </a:lnSpc>
                <a:spcBef>
                  <a:spcPts val="0"/>
                </a:spcBef>
                <a:spcAft>
                  <a:spcPts val="0"/>
                </a:spcAft>
              </a:pPr>
              <a:r>
                <a:rPr sz="2300" b="1" i="0" lang="en-US" dirty="0">
                  <a:solidFill>
                    <a:srgbClr val="2768A5"/>
                  </a:solidFill>
                  <a:latin typeface="Arial"/>
                  <a:ea typeface="Arial"/>
                  <a:cs typeface="Arial"/>
                </a:rPr>
                <a:t>A₁</a:t>
              </a:r>
            </a:p>
          </p:txBody>
        </p:sp>
        <p:sp>
          <p:nvSpPr>
            <p:cNvPr id="63" name="B/Context/A₁/Name"/>
            <p:cNvSpPr txBox="1"/>
            <p:nvPr/>
          </p:nvSpPr>
          <p:spPr>
            <a:xfrm>
              <a:off x="6400800" y="2093976"/>
              <a:ext cx="1298448" cy="219456"/>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2768A5"/>
                  </a:solidFill>
                  <a:latin typeface="Arial"/>
                  <a:ea typeface="Arial"/>
                  <a:cs typeface="Arial"/>
                </a:rPr>
                <a:t>Anonymous</a:t>
              </a:r>
            </a:p>
          </p:txBody>
        </p:sp>
        <p:sp>
          <p:nvSpPr>
            <p:cNvPr id="64" name="B/Context/A₃"/>
            <p:cNvSpPr/>
            <p:nvPr/>
          </p:nvSpPr>
          <p:spPr>
            <a:xfrm>
              <a:off x="7772400" y="1664208"/>
              <a:ext cx="1152144" cy="420624"/>
            </a:xfrm>
            <a:prstGeom prst="roundRect">
              <a:avLst>
                <a:gd name="adj" fmla="val 13043"/>
              </a:avLst>
            </a:prstGeom>
            <a:solidFill>
              <a:srgbClr val="FFF0E6"/>
            </a:solidFill>
            <a:ln w="10160">
              <a:solidFill>
                <a:srgbClr val="B55929"/>
              </a:solidFill>
            </a:ln>
            <a:effectLst/>
          </p:spPr>
          <p:txBody>
            <a:bodyPr rtlCol="0" anchor="ctr"/>
            <a:lstStyle/>
            <a:p>
              <a:pPr algn="ctr"/>
            </a:p>
          </p:txBody>
        </p:sp>
        <p:sp>
          <p:nvSpPr>
            <p:cNvPr id="65" name="B/Context/A₃/Label"/>
            <p:cNvSpPr txBox="1"/>
            <p:nvPr/>
          </p:nvSpPr>
          <p:spPr>
            <a:xfrm>
              <a:off x="7772400" y="1673352"/>
              <a:ext cx="1152144" cy="402336"/>
            </a:xfrm>
            <a:prstGeom prst="rect">
              <a:avLst/>
            </a:prstGeom>
            <a:noFill/>
          </p:spPr>
          <p:txBody>
            <a:bodyPr wrap="none" lIns="0" rIns="0" tIns="0" bIns="0" anchor="ctr">
              <a:noAutofit/>
            </a:bodyPr>
            <a:lstStyle/>
            <a:p>
              <a:pPr algn="ctr">
                <a:lnSpc>
                  <a:spcPct val="103000"/>
                </a:lnSpc>
                <a:spcBef>
                  <a:spcPts val="0"/>
                </a:spcBef>
                <a:spcAft>
                  <a:spcPts val="0"/>
                </a:spcAft>
              </a:pPr>
              <a:r>
                <a:rPr sz="2300" b="1" i="0" lang="en-US" dirty="0">
                  <a:solidFill>
                    <a:srgbClr val="B55929"/>
                  </a:solidFill>
                  <a:latin typeface="Arial"/>
                  <a:ea typeface="Arial"/>
                  <a:cs typeface="Arial"/>
                </a:rPr>
                <a:t>A₃</a:t>
              </a:r>
            </a:p>
          </p:txBody>
        </p:sp>
        <p:sp>
          <p:nvSpPr>
            <p:cNvPr id="66" name="B/Context/A₃/Name"/>
            <p:cNvSpPr txBox="1"/>
            <p:nvPr/>
          </p:nvSpPr>
          <p:spPr>
            <a:xfrm>
              <a:off x="7699248" y="2093976"/>
              <a:ext cx="1298448" cy="219456"/>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B55929"/>
                  </a:solidFill>
                  <a:latin typeface="Arial"/>
                  <a:ea typeface="Arial"/>
                  <a:cs typeface="Arial"/>
                </a:rPr>
                <a:t>Expert</a:t>
              </a:r>
            </a:p>
          </p:txBody>
        </p:sp>
        <p:cxnSp>
          <p:nvCxnSpPr>
            <p:cNvPr id="71" name="B/ContextToM"/>
            <p:cNvCxnSpPr/>
            <p:nvPr/>
          </p:nvCxnSpPr>
          <p:spPr>
            <a:xfrm>
              <a:off x="7068312" y="2468880"/>
              <a:ext cx="0" cy="82296"/>
            </a:xfrm>
            <a:prstGeom prst="line">
              <a:avLst/>
            </a:prstGeom>
            <a:ln w="19050" cap="rnd">
              <a:solidFill>
                <a:srgbClr val="526270"/>
              </a:solidFill>
              <a:tailEnd type="triangle" w="sm" len="sm"/>
            </a:ln>
          </p:spPr>
        </p:cxnSp>
        <p:sp>
          <p:nvSpPr>
            <p:cNvPr id="72" name="B/M"/>
            <p:cNvSpPr/>
            <p:nvPr/>
          </p:nvSpPr>
          <p:spPr>
            <a:xfrm>
              <a:off x="5843016" y="2587752"/>
              <a:ext cx="2459736" cy="676656"/>
            </a:xfrm>
            <a:prstGeom prst="roundRect">
              <a:avLst>
                <a:gd name="adj" fmla="val 11486"/>
              </a:avLst>
            </a:prstGeom>
            <a:solidFill>
              <a:srgbClr val="FFFFFF"/>
            </a:solidFill>
            <a:ln w="16510">
              <a:solidFill>
                <a:srgbClr val="2768A5"/>
              </a:solidFill>
            </a:ln>
            <a:effectLst/>
          </p:spPr>
          <p:txBody>
            <a:bodyPr rtlCol="0" anchor="ctr"/>
            <a:lstStyle/>
            <a:p>
              <a:pPr algn="ctr"/>
            </a:p>
          </p:txBody>
        </p:sp>
        <p:grpSp>
          <p:nvGrpSpPr>
            <p:cNvPr id="73" name="B/Chip"/>
            <p:cNvGrpSpPr/>
            <p:nvPr/>
          </p:nvGrpSpPr>
          <p:grpSpPr>
            <a:xfrm>
              <a:off x="6057534" y="2719974"/>
              <a:ext cx="412211" cy="412211"/>
              <a:chOff x="6057534" y="2719974"/>
              <a:chExt cx="412211" cy="412211"/>
            </a:xfrm>
          </p:grpSpPr>
          <p:sp>
            <p:nvSpPr>
              <p:cNvPr id="74" name="B/Chip/Core"/>
              <p:cNvSpPr/>
              <p:nvPr/>
            </p:nvSpPr>
            <p:spPr>
              <a:xfrm>
                <a:off x="6129040" y="2791480"/>
                <a:ext cx="269199" cy="269199"/>
              </a:xfrm>
              <a:prstGeom prst="roundRect">
                <a:avLst>
                  <a:gd name="adj" fmla="val 15285"/>
                </a:avLst>
              </a:prstGeom>
              <a:solidFill>
                <a:srgbClr val="FFFFFF"/>
              </a:solidFill>
              <a:ln w="17145">
                <a:solidFill>
                  <a:srgbClr val="2768A5"/>
                </a:solidFill>
              </a:ln>
              <a:effectLst/>
            </p:spPr>
            <p:txBody>
              <a:bodyPr rtlCol="0" anchor="ctr"/>
              <a:lstStyle/>
              <a:p>
                <a:pPr algn="ctr"/>
              </a:p>
            </p:txBody>
          </p:sp>
          <p:cxnSp>
            <p:nvCxnSpPr>
              <p:cNvPr id="75" name="B/Chip/PinL-0.2"/>
              <p:cNvCxnSpPr/>
              <p:nvPr/>
            </p:nvCxnSpPr>
            <p:spPr>
              <a:xfrm>
                <a:off x="6057534" y="2841955"/>
                <a:ext cx="63093" cy="0"/>
              </a:xfrm>
              <a:prstGeom prst="line">
                <a:avLst/>
              </a:prstGeom>
              <a:ln w="13970" cap="rnd">
                <a:solidFill>
                  <a:srgbClr val="2768A5"/>
                </a:solidFill>
              </a:ln>
            </p:spPr>
          </p:cxnSp>
          <p:cxnSp>
            <p:nvCxnSpPr>
              <p:cNvPr id="76" name="B/Chip/PinR-0.2"/>
              <p:cNvCxnSpPr/>
              <p:nvPr/>
            </p:nvCxnSpPr>
            <p:spPr>
              <a:xfrm>
                <a:off x="6406652" y="2841955"/>
                <a:ext cx="63093" cy="0"/>
              </a:xfrm>
              <a:prstGeom prst="line">
                <a:avLst/>
              </a:prstGeom>
              <a:ln w="13970" cap="rnd">
                <a:solidFill>
                  <a:srgbClr val="2768A5"/>
                </a:solidFill>
              </a:ln>
            </p:spPr>
          </p:cxnSp>
          <p:cxnSp>
            <p:nvCxnSpPr>
              <p:cNvPr id="77" name="B/Chip/PinT-0.2"/>
              <p:cNvCxnSpPr/>
              <p:nvPr/>
            </p:nvCxnSpPr>
            <p:spPr>
              <a:xfrm>
                <a:off x="6179515" y="2719974"/>
                <a:ext cx="0" cy="63093"/>
              </a:xfrm>
              <a:prstGeom prst="line">
                <a:avLst/>
              </a:prstGeom>
              <a:ln w="13970" cap="rnd">
                <a:solidFill>
                  <a:srgbClr val="2768A5"/>
                </a:solidFill>
              </a:ln>
            </p:spPr>
          </p:cxnSp>
          <p:cxnSp>
            <p:nvCxnSpPr>
              <p:cNvPr id="78" name="B/Chip/PinB-0.2"/>
              <p:cNvCxnSpPr/>
              <p:nvPr/>
            </p:nvCxnSpPr>
            <p:spPr>
              <a:xfrm>
                <a:off x="6179515" y="3069092"/>
                <a:ext cx="0" cy="63093"/>
              </a:xfrm>
              <a:prstGeom prst="line">
                <a:avLst/>
              </a:prstGeom>
              <a:ln w="13970" cap="rnd">
                <a:solidFill>
                  <a:srgbClr val="2768A5"/>
                </a:solidFill>
              </a:ln>
            </p:spPr>
          </p:cxnSp>
          <p:cxnSp>
            <p:nvCxnSpPr>
              <p:cNvPr id="79" name="B/Chip/PinL0"/>
              <p:cNvCxnSpPr/>
              <p:nvPr/>
            </p:nvCxnSpPr>
            <p:spPr>
              <a:xfrm>
                <a:off x="6057534" y="2926080"/>
                <a:ext cx="63093" cy="0"/>
              </a:xfrm>
              <a:prstGeom prst="line">
                <a:avLst/>
              </a:prstGeom>
              <a:ln w="13970" cap="rnd">
                <a:solidFill>
                  <a:srgbClr val="2768A5"/>
                </a:solidFill>
              </a:ln>
            </p:spPr>
          </p:cxnSp>
          <p:cxnSp>
            <p:nvCxnSpPr>
              <p:cNvPr id="80" name="B/Chip/PinR0"/>
              <p:cNvCxnSpPr/>
              <p:nvPr/>
            </p:nvCxnSpPr>
            <p:spPr>
              <a:xfrm>
                <a:off x="6406652" y="2926080"/>
                <a:ext cx="63093" cy="0"/>
              </a:xfrm>
              <a:prstGeom prst="line">
                <a:avLst/>
              </a:prstGeom>
              <a:ln w="13970" cap="rnd">
                <a:solidFill>
                  <a:srgbClr val="2768A5"/>
                </a:solidFill>
              </a:ln>
            </p:spPr>
          </p:cxnSp>
          <p:cxnSp>
            <p:nvCxnSpPr>
              <p:cNvPr id="81" name="B/Chip/PinT0"/>
              <p:cNvCxnSpPr/>
              <p:nvPr/>
            </p:nvCxnSpPr>
            <p:spPr>
              <a:xfrm>
                <a:off x="6263640" y="2719974"/>
                <a:ext cx="0" cy="63093"/>
              </a:xfrm>
              <a:prstGeom prst="line">
                <a:avLst/>
              </a:prstGeom>
              <a:ln w="13970" cap="rnd">
                <a:solidFill>
                  <a:srgbClr val="2768A5"/>
                </a:solidFill>
              </a:ln>
            </p:spPr>
          </p:cxnSp>
          <p:cxnSp>
            <p:nvCxnSpPr>
              <p:cNvPr id="82" name="B/Chip/PinB0"/>
              <p:cNvCxnSpPr/>
              <p:nvPr/>
            </p:nvCxnSpPr>
            <p:spPr>
              <a:xfrm>
                <a:off x="6263640" y="3069092"/>
                <a:ext cx="0" cy="63093"/>
              </a:xfrm>
              <a:prstGeom prst="line">
                <a:avLst/>
              </a:prstGeom>
              <a:ln w="13970" cap="rnd">
                <a:solidFill>
                  <a:srgbClr val="2768A5"/>
                </a:solidFill>
              </a:ln>
            </p:spPr>
          </p:cxnSp>
          <p:cxnSp>
            <p:nvCxnSpPr>
              <p:cNvPr id="83" name="B/Chip/PinL0.2"/>
              <p:cNvCxnSpPr/>
              <p:nvPr/>
            </p:nvCxnSpPr>
            <p:spPr>
              <a:xfrm>
                <a:off x="6057534" y="3010204"/>
                <a:ext cx="63093" cy="0"/>
              </a:xfrm>
              <a:prstGeom prst="line">
                <a:avLst/>
              </a:prstGeom>
              <a:ln w="13970" cap="rnd">
                <a:solidFill>
                  <a:srgbClr val="2768A5"/>
                </a:solidFill>
              </a:ln>
            </p:spPr>
          </p:cxnSp>
          <p:cxnSp>
            <p:nvCxnSpPr>
              <p:cNvPr id="84" name="B/Chip/PinR0.2"/>
              <p:cNvCxnSpPr/>
              <p:nvPr/>
            </p:nvCxnSpPr>
            <p:spPr>
              <a:xfrm>
                <a:off x="6406652" y="3010204"/>
                <a:ext cx="63093" cy="0"/>
              </a:xfrm>
              <a:prstGeom prst="line">
                <a:avLst/>
              </a:prstGeom>
              <a:ln w="13970" cap="rnd">
                <a:solidFill>
                  <a:srgbClr val="2768A5"/>
                </a:solidFill>
              </a:ln>
            </p:spPr>
          </p:cxnSp>
          <p:cxnSp>
            <p:nvCxnSpPr>
              <p:cNvPr id="85" name="B/Chip/PinT0.2"/>
              <p:cNvCxnSpPr/>
              <p:nvPr/>
            </p:nvCxnSpPr>
            <p:spPr>
              <a:xfrm>
                <a:off x="6347764" y="2719974"/>
                <a:ext cx="0" cy="63093"/>
              </a:xfrm>
              <a:prstGeom prst="line">
                <a:avLst/>
              </a:prstGeom>
              <a:ln w="13970" cap="rnd">
                <a:solidFill>
                  <a:srgbClr val="2768A5"/>
                </a:solidFill>
              </a:ln>
            </p:spPr>
          </p:cxnSp>
          <p:cxnSp>
            <p:nvCxnSpPr>
              <p:cNvPr id="86" name="B/Chip/PinB0.2"/>
              <p:cNvCxnSpPr/>
              <p:nvPr/>
            </p:nvCxnSpPr>
            <p:spPr>
              <a:xfrm>
                <a:off x="6347764" y="3069092"/>
                <a:ext cx="0" cy="63093"/>
              </a:xfrm>
              <a:prstGeom prst="line">
                <a:avLst/>
              </a:prstGeom>
              <a:ln w="13970" cap="rnd">
                <a:solidFill>
                  <a:srgbClr val="2768A5"/>
                </a:solidFill>
              </a:ln>
            </p:spPr>
          </p:cxnSp>
          <p:sp>
            <p:nvSpPr>
              <p:cNvPr id="87" name="B/Chip/Trace1"/>
              <p:cNvSpPr/>
              <p:nvPr/>
            </p:nvSpPr>
            <p:spPr>
              <a:xfrm>
                <a:off x="6192133" y="2871398"/>
                <a:ext cx="134600" cy="96744"/>
              </a:xfrm>
              <a:custGeom>
                <a:avLst/>
                <a:gdLst/>
                <a:ahLst/>
                <a:cxnLst/>
                <a:rect l="l" t="t" r="r" b="b"/>
                <a:pathLst>
                  <a:path w="134600" h="96744">
                    <a:moveTo>
                      <a:pt x="0" y="0"/>
                    </a:moveTo>
                    <a:lnTo>
                      <a:pt x="71507" y="0"/>
                    </a:lnTo>
                    <a:lnTo>
                      <a:pt x="71507" y="96744"/>
                    </a:lnTo>
                    <a:lnTo>
                      <a:pt x="134600" y="96744"/>
                    </a:lnTo>
                  </a:path>
                </a:pathLst>
              </a:custGeom>
              <a:noFill/>
              <a:ln w="12700" cap="rnd">
                <a:solidFill>
                  <a:srgbClr val="2768A5"/>
                </a:solidFill>
                <a:round/>
              </a:ln>
              <a:effectLst/>
            </p:spPr>
            <p:txBody>
              <a:bodyPr rtlCol="0" anchor="ctr"/>
              <a:lstStyle/>
              <a:p>
                <a:pPr algn="ctr"/>
              </a:p>
            </p:txBody>
          </p:sp>
          <p:sp>
            <p:nvSpPr>
              <p:cNvPr id="88" name="B/Chip/Trace2"/>
              <p:cNvSpPr/>
              <p:nvPr/>
            </p:nvSpPr>
            <p:spPr>
              <a:xfrm>
                <a:off x="6196340" y="2934492"/>
                <a:ext cx="37856" cy="54681"/>
              </a:xfrm>
              <a:custGeom>
                <a:avLst/>
                <a:gdLst/>
                <a:ahLst/>
                <a:cxnLst/>
                <a:rect l="l" t="t" r="r" b="b"/>
                <a:pathLst>
                  <a:path w="37856" h="54681">
                    <a:moveTo>
                      <a:pt x="0" y="54681"/>
                    </a:moveTo>
                    <a:lnTo>
                      <a:pt x="37856" y="54681"/>
                    </a:lnTo>
                    <a:lnTo>
                      <a:pt x="37856" y="0"/>
                    </a:lnTo>
                  </a:path>
                </a:pathLst>
              </a:custGeom>
              <a:noFill/>
              <a:ln w="12700" cap="rnd">
                <a:solidFill>
                  <a:srgbClr val="2768A5"/>
                </a:solidFill>
                <a:round/>
              </a:ln>
              <a:effectLst/>
            </p:spPr>
            <p:txBody>
              <a:bodyPr rtlCol="0" anchor="ctr"/>
              <a:lstStyle/>
              <a:p>
                <a:pPr algn="ctr"/>
              </a:p>
            </p:txBody>
          </p:sp>
        </p:grpSp>
        <p:sp>
          <p:nvSpPr>
            <p:cNvPr id="89" name="B/Model"/>
            <p:cNvSpPr txBox="1"/>
            <p:nvPr/>
          </p:nvSpPr>
          <p:spPr>
            <a:xfrm>
              <a:off x="6638544" y="2670048"/>
              <a:ext cx="1481328" cy="43891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768A5"/>
                  </a:solidFill>
                  <a:latin typeface="Arial"/>
                  <a:ea typeface="Arial"/>
                  <a:cs typeface="Arial"/>
                </a:rPr>
                <a:t>Same </a:t>
              </a:r>
              <a:r>
                <a:rPr sz="2500" b="1" i="1" lang="en-US" dirty="0">
                  <a:solidFill>
                    <a:srgbClr val="2768A5"/>
                  </a:solidFill>
                  <a:latin typeface="Times New Roman"/>
                  <a:ea typeface="Times New Roman"/>
                  <a:cs typeface="Times New Roman"/>
                </a:rPr>
                <a:t>M</a:t>
              </a:r>
            </a:p>
          </p:txBody>
        </p:sp>
        <p:cxnSp>
          <p:nvCxnSpPr>
            <p:cNvPr id="90" name="B/MToY2"/>
            <p:cNvCxnSpPr/>
            <p:nvPr/>
          </p:nvCxnSpPr>
          <p:spPr>
            <a:xfrm>
              <a:off x="6428232" y="3282696"/>
              <a:ext cx="0" cy="466343"/>
            </a:xfrm>
            <a:prstGeom prst="line">
              <a:avLst/>
            </a:prstGeom>
            <a:ln w="17780" cap="rnd">
              <a:solidFill>
                <a:srgbClr val="2768A5"/>
              </a:solidFill>
              <a:tailEnd type="triangle" w="sm" len="sm"/>
            </a:ln>
          </p:spPr>
        </p:cxnSp>
        <p:cxnSp>
          <p:nvCxnSpPr>
            <p:cNvPr id="91" name="B/MToR2"/>
            <p:cNvCxnSpPr/>
            <p:nvPr/>
          </p:nvCxnSpPr>
          <p:spPr>
            <a:xfrm>
              <a:off x="7891272" y="3282696"/>
              <a:ext cx="0" cy="466343"/>
            </a:xfrm>
            <a:prstGeom prst="line">
              <a:avLst/>
            </a:prstGeom>
            <a:ln w="16510" cap="rnd">
              <a:solidFill>
                <a:srgbClr val="72618C"/>
              </a:solidFill>
              <a:tailEnd type="triangle" w="sm" len="sm"/>
            </a:ln>
          </p:spPr>
        </p:cxnSp>
        <p:sp>
          <p:nvSpPr>
            <p:cNvPr id="92" name="B/Y2"/>
            <p:cNvSpPr/>
            <p:nvPr/>
          </p:nvSpPr>
          <p:spPr>
            <a:xfrm>
              <a:off x="5614416" y="3785615"/>
              <a:ext cx="1627632" cy="649224"/>
            </a:xfrm>
            <a:prstGeom prst="roundRect">
              <a:avLst>
                <a:gd name="adj" fmla="val 10563"/>
              </a:avLst>
            </a:prstGeom>
            <a:solidFill>
              <a:srgbClr val="ECF4FC"/>
            </a:solidFill>
            <a:ln w="15240">
              <a:solidFill>
                <a:srgbClr val="2768A5"/>
              </a:solidFill>
            </a:ln>
            <a:effectLst/>
          </p:spPr>
          <p:txBody>
            <a:bodyPr rtlCol="0" anchor="ctr"/>
            <a:lstStyle/>
            <a:p>
              <a:pPr algn="ctr"/>
            </a:p>
          </p:txBody>
        </p:sp>
        <p:sp>
          <p:nvSpPr>
            <p:cNvPr id="93" name="B/Y2/Title"/>
            <p:cNvSpPr txBox="1"/>
            <p:nvPr/>
          </p:nvSpPr>
          <p:spPr>
            <a:xfrm>
              <a:off x="5705856" y="3849624"/>
              <a:ext cx="1444752" cy="228600"/>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2768A5"/>
                  </a:solidFill>
                  <a:latin typeface="Arial"/>
                  <a:ea typeface="Arial"/>
                  <a:cs typeface="Arial"/>
                </a:rPr>
                <a:t>Revised</a:t>
              </a:r>
            </a:p>
          </p:txBody>
        </p:sp>
        <p:sp>
          <p:nvSpPr>
            <p:cNvPr id="94" name="B/Y2/Symbol"/>
            <p:cNvSpPr txBox="1"/>
            <p:nvPr/>
          </p:nvSpPr>
          <p:spPr>
            <a:xfrm>
              <a:off x="5705856" y="4105656"/>
              <a:ext cx="1444752" cy="265176"/>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203346"/>
                  </a:solidFill>
                  <a:latin typeface="Times New Roman"/>
                  <a:ea typeface="Times New Roman"/>
                  <a:cs typeface="Times New Roman"/>
                </a:rPr>
                <a:t>Y₂</a:t>
              </a:r>
            </a:p>
          </p:txBody>
        </p:sp>
        <p:sp>
          <p:nvSpPr>
            <p:cNvPr id="95" name="B/R2"/>
            <p:cNvSpPr/>
            <p:nvPr/>
          </p:nvSpPr>
          <p:spPr>
            <a:xfrm>
              <a:off x="7571231" y="3785615"/>
              <a:ext cx="1362456" cy="649224"/>
            </a:xfrm>
            <a:prstGeom prst="roundRect">
              <a:avLst>
                <a:gd name="adj" fmla="val 10563"/>
              </a:avLst>
            </a:prstGeom>
            <a:solidFill>
              <a:srgbClr val="F4F0F8"/>
            </a:solidFill>
            <a:ln w="12700">
              <a:solidFill>
                <a:srgbClr val="B9AACC"/>
              </a:solidFill>
              <a:prstDash val="dash"/>
            </a:ln>
            <a:effectLst/>
          </p:spPr>
          <p:txBody>
            <a:bodyPr rtlCol="0" anchor="ctr"/>
            <a:lstStyle/>
            <a:p>
              <a:pPr algn="ctr"/>
            </a:p>
          </p:txBody>
        </p:sp>
        <p:sp>
          <p:nvSpPr>
            <p:cNvPr id="96" name="B/R2/Title"/>
            <p:cNvSpPr txBox="1"/>
            <p:nvPr/>
          </p:nvSpPr>
          <p:spPr>
            <a:xfrm>
              <a:off x="7644383" y="3849624"/>
              <a:ext cx="1216152" cy="228600"/>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72618C"/>
                  </a:solidFill>
                  <a:latin typeface="Arial"/>
                  <a:ea typeface="Arial"/>
                  <a:cs typeface="Arial"/>
                </a:rPr>
                <a:t>Rationale</a:t>
              </a:r>
            </a:p>
          </p:txBody>
        </p:sp>
        <p:sp>
          <p:nvSpPr>
            <p:cNvPr id="97" name="B/R2/Symbol"/>
            <p:cNvSpPr txBox="1"/>
            <p:nvPr/>
          </p:nvSpPr>
          <p:spPr>
            <a:xfrm>
              <a:off x="7644383" y="4105656"/>
              <a:ext cx="1216152" cy="265176"/>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72618C"/>
                  </a:solidFill>
                  <a:latin typeface="Times New Roman"/>
                  <a:ea typeface="Times New Roman"/>
                  <a:cs typeface="Times New Roman"/>
                </a:rPr>
                <a:t>R₂</a:t>
              </a:r>
            </a:p>
          </p:txBody>
        </p:sp>
        <p:sp>
          <p:nvSpPr>
            <p:cNvPr id="98" name="B/R2/Log"/>
            <p:cNvSpPr txBox="1"/>
            <p:nvPr/>
          </p:nvSpPr>
          <p:spPr>
            <a:xfrm>
              <a:off x="7534656" y="4507992"/>
              <a:ext cx="1444752" cy="228600"/>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72618C"/>
                  </a:solidFill>
                  <a:latin typeface="Arial"/>
                  <a:ea typeface="Arial"/>
                  <a:cs typeface="Arial"/>
                </a:rPr>
                <a:t>Logged only</a:t>
              </a:r>
            </a:p>
          </p:txBody>
        </p:sp>
        <p:sp>
          <p:nvSpPr>
            <p:cNvPr id="99" name="B/Score"/>
            <p:cNvSpPr/>
            <p:nvPr/>
          </p:nvSpPr>
          <p:spPr>
            <a:xfrm>
              <a:off x="5001768" y="4791456"/>
              <a:ext cx="4133087" cy="950976"/>
            </a:xfrm>
            <a:prstGeom prst="roundRect">
              <a:avLst>
                <a:gd name="adj" fmla="val 7692"/>
              </a:avLst>
            </a:prstGeom>
            <a:solidFill>
              <a:srgbClr val="F4F0F8"/>
            </a:solidFill>
            <a:ln w="12700">
              <a:solidFill>
                <a:srgbClr val="B9AACC"/>
              </a:solidFill>
              <a:prstDash val="dash"/>
            </a:ln>
            <a:effectLst/>
          </p:spPr>
          <p:txBody>
            <a:bodyPr rtlCol="0" anchor="ctr"/>
            <a:lstStyle/>
            <a:p>
              <a:pPr algn="ctr"/>
            </a:p>
          </p:txBody>
        </p:sp>
        <p:sp>
          <p:nvSpPr>
            <p:cNvPr id="100" name="B/Score/Title"/>
            <p:cNvSpPr txBox="1"/>
            <p:nvPr/>
          </p:nvSpPr>
          <p:spPr>
            <a:xfrm>
              <a:off x="5138928" y="4901184"/>
              <a:ext cx="3858768" cy="237744"/>
            </a:xfrm>
            <a:prstGeom prst="rect">
              <a:avLst/>
            </a:prstGeom>
            <a:noFill/>
          </p:spPr>
          <p:txBody>
            <a:bodyPr wrap="none" lIns="0" rIns="0" tIns="0" bIns="0" anchor="ctr">
              <a:noAutofit/>
            </a:bodyPr>
            <a:lstStyle/>
            <a:p>
              <a:pPr algn="ctr">
                <a:lnSpc>
                  <a:spcPct val="103000"/>
                </a:lnSpc>
                <a:spcBef>
                  <a:spcPts val="0"/>
                </a:spcBef>
                <a:spcAft>
                  <a:spcPts val="0"/>
                </a:spcAft>
              </a:pPr>
              <a:r>
                <a:rPr sz="1950" b="1" i="0" lang="en-US" dirty="0">
                  <a:solidFill>
                    <a:srgbClr val="72618C"/>
                  </a:solidFill>
                  <a:latin typeface="Arial"/>
                  <a:ea typeface="Arial"/>
                  <a:cs typeface="Arial"/>
                </a:rPr>
                <a:t>Pass-2 teacher-forced score</a:t>
              </a:r>
            </a:p>
          </p:txBody>
        </p:sp>
        <p:sp>
          <p:nvSpPr>
            <p:cNvPr id="101" name="B/Score/Formula"/>
            <p:cNvSpPr txBox="1"/>
            <p:nvPr/>
          </p:nvSpPr>
          <p:spPr>
            <a:xfrm>
              <a:off x="5129784" y="5285232"/>
              <a:ext cx="3877056" cy="320040"/>
            </a:xfrm>
            <a:prstGeom prst="rect">
              <a:avLst/>
            </a:prstGeom>
            <a:noFill/>
          </p:spPr>
          <p:txBody>
            <a:bodyPr wrap="none" lIns="0" rIns="0" tIns="0" bIns="0" anchor="ctr">
              <a:noAutofit/>
            </a:bodyPr>
            <a:lstStyle/>
            <a:p>
              <a:pPr algn="ctr">
                <a:lnSpc>
                  <a:spcPct val="103000"/>
                </a:lnSpc>
                <a:spcBef>
                  <a:spcPts val="0"/>
                </a:spcBef>
                <a:spcAft>
                  <a:spcPts val="0"/>
                </a:spcAft>
              </a:pPr>
              <a:r>
                <a:rPr sz="2350" b="0" i="0" lang="en-US" dirty="0">
                  <a:solidFill>
                    <a:srgbClr val="72618C"/>
                  </a:solidFill>
                  <a:latin typeface="Times New Roman"/>
                  <a:ea typeface="Times New Roman"/>
                  <a:cs typeface="Times New Roman"/>
                </a:rPr>
                <a:t>ℓ₂ = log P(Yes) − log P(No)</a:t>
              </a:r>
            </a:p>
          </p:txBody>
        </p:sp>
        <p:sp>
          <p:nvSpPr>
            <p:cNvPr id="102" name="B/PromptToScore"/>
            <p:cNvSpPr/>
            <p:nvPr/>
          </p:nvSpPr>
          <p:spPr>
            <a:xfrm>
              <a:off x="5102352" y="2459736"/>
              <a:ext cx="109728" cy="2231136"/>
            </a:xfrm>
            <a:custGeom>
              <a:avLst/>
              <a:gdLst/>
              <a:ahLst/>
              <a:cxnLst/>
              <a:rect l="l" t="t" r="r" b="b"/>
              <a:pathLst>
                <a:path w="109728" h="2231136">
                  <a:moveTo>
                    <a:pt x="109728" y="0"/>
                  </a:moveTo>
                  <a:lnTo>
                    <a:pt x="0" y="82296"/>
                  </a:lnTo>
                  <a:lnTo>
                    <a:pt x="0" y="2231136"/>
                  </a:lnTo>
                </a:path>
              </a:pathLst>
            </a:custGeom>
            <a:noFill/>
            <a:ln w="11430" cap="rnd">
              <a:solidFill>
                <a:srgbClr val="72618C"/>
              </a:solidFill>
              <a:round/>
              <a:prstDash val="dash"/>
            </a:ln>
            <a:effectLst/>
          </p:spPr>
          <p:txBody>
            <a:bodyPr rtlCol="0" anchor="ctr"/>
            <a:lstStyle/>
            <a:p>
              <a:pPr algn="ctr"/>
            </a:p>
          </p:txBody>
        </p:sp>
        <p:cxnSp>
          <p:nvCxnSpPr>
            <p:cNvPr id="103" name="B/PromptToScore/Head"/>
            <p:cNvCxnSpPr/>
            <p:nvPr/>
          </p:nvCxnSpPr>
          <p:spPr>
            <a:xfrm>
              <a:off x="5102352" y="4690872"/>
              <a:ext cx="0" cy="82296"/>
            </a:xfrm>
            <a:prstGeom prst="line">
              <a:avLst/>
            </a:prstGeom>
            <a:ln w="12700" cap="rnd">
              <a:solidFill>
                <a:srgbClr val="72618C"/>
              </a:solidFill>
              <a:prstDash val="dash"/>
              <a:tailEnd type="triangle" w="sm" len="sm"/>
            </a:ln>
          </p:spPr>
        </p:cxnSp>
      </p:grpSp>
      <p:grpSp>
        <p:nvGrpSpPr>
          <p:cNvPr id="4" name="C | Complete audit readouts"/>
          <p:cNvGrpSpPr/>
          <p:nvPr/>
        </p:nvGrpSpPr>
        <p:grpSpPr>
          <a:xfrm>
            <a:off x="9710928" y="155448"/>
            <a:ext cx="4754880" cy="5824728"/>
            <a:chOff x="9710928" y="155448"/>
            <a:chExt cx="4754880" cy="5824728"/>
          </a:xfrm>
        </p:grpSpPr>
        <p:sp>
          <p:nvSpPr>
            <p:cNvPr id="10" name="C/Header/Letter"/>
            <p:cNvSpPr txBox="1"/>
            <p:nvPr/>
          </p:nvSpPr>
          <p:spPr>
            <a:xfrm>
              <a:off x="9710928" y="155448"/>
              <a:ext cx="329184" cy="393192"/>
            </a:xfrm>
            <a:prstGeom prst="rect">
              <a:avLst/>
            </a:prstGeom>
            <a:noFill/>
          </p:spPr>
          <p:txBody>
            <a:bodyPr wrap="none" lIns="0" rIns="0" tIns="0" bIns="0" anchor="ctr">
              <a:noAutofit/>
            </a:bodyPr>
            <a:lstStyle/>
            <a:p>
              <a:pPr algn="l">
                <a:lnSpc>
                  <a:spcPct val="103000"/>
                </a:lnSpc>
                <a:spcBef>
                  <a:spcPts val="0"/>
                </a:spcBef>
                <a:spcAft>
                  <a:spcPts val="0"/>
                </a:spcAft>
              </a:pPr>
              <a:r>
                <a:rPr sz="2500" b="1" i="0" lang="en-US" dirty="0">
                  <a:solidFill>
                    <a:srgbClr val="203346"/>
                  </a:solidFill>
                  <a:latin typeface="Times New Roman"/>
                  <a:ea typeface="Times New Roman"/>
                  <a:cs typeface="Times New Roman"/>
                </a:rPr>
                <a:t>c</a:t>
              </a:r>
            </a:p>
          </p:txBody>
        </p:sp>
        <p:sp>
          <p:nvSpPr>
            <p:cNvPr id="11" name="C/Header/Title"/>
            <p:cNvSpPr txBox="1"/>
            <p:nvPr/>
          </p:nvSpPr>
          <p:spPr>
            <a:xfrm>
              <a:off x="10104119" y="155448"/>
              <a:ext cx="4361688" cy="393192"/>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Complete audit readouts</a:t>
              </a:r>
            </a:p>
          </p:txBody>
        </p:sp>
        <p:sp>
          <p:nvSpPr>
            <p:cNvPr id="104" name="C/Behavior"/>
            <p:cNvSpPr/>
            <p:nvPr/>
          </p:nvSpPr>
          <p:spPr>
            <a:xfrm>
              <a:off x="9710928" y="832104"/>
              <a:ext cx="4754880" cy="2286000"/>
            </a:xfrm>
            <a:prstGeom prst="roundRect">
              <a:avLst>
                <a:gd name="adj" fmla="val 4000"/>
              </a:avLst>
            </a:prstGeom>
            <a:solidFill>
              <a:srgbClr val="FFFFFF"/>
            </a:solidFill>
            <a:ln w="12700">
              <a:solidFill>
                <a:srgbClr val="B9C6CF"/>
              </a:solidFill>
            </a:ln>
            <a:effectLst/>
          </p:spPr>
          <p:txBody>
            <a:bodyPr rtlCol="0" anchor="ctr"/>
            <a:lstStyle/>
            <a:p>
              <a:pPr algn="ctr"/>
            </a:p>
          </p:txBody>
        </p:sp>
        <p:sp>
          <p:nvSpPr>
            <p:cNvPr id="105" name="C/Behavior/Title"/>
            <p:cNvSpPr txBox="1"/>
            <p:nvPr/>
          </p:nvSpPr>
          <p:spPr>
            <a:xfrm>
              <a:off x="9912096" y="978408"/>
              <a:ext cx="4352544" cy="292608"/>
            </a:xfrm>
            <a:prstGeom prst="rect">
              <a:avLst/>
            </a:prstGeom>
            <a:noFill/>
          </p:spPr>
          <p:txBody>
            <a:bodyPr wrap="none" lIns="0" rIns="0" tIns="0" bIns="0" anchor="ctr">
              <a:noAutofit/>
            </a:bodyPr>
            <a:lstStyle/>
            <a:p>
              <a:pPr algn="l">
                <a:lnSpc>
                  <a:spcPct val="103000"/>
                </a:lnSpc>
                <a:spcBef>
                  <a:spcPts val="0"/>
                </a:spcBef>
                <a:spcAft>
                  <a:spcPts val="0"/>
                </a:spcAft>
              </a:pPr>
              <a:r>
                <a:rPr sz="2200" b="1" i="0" lang="en-US" dirty="0">
                  <a:solidFill>
                    <a:srgbClr val="203346"/>
                  </a:solidFill>
                  <a:latin typeface="Arial"/>
                  <a:ea typeface="Arial"/>
                  <a:cs typeface="Arial"/>
                </a:rPr>
                <a:t>Reversal and source effects</a:t>
              </a:r>
            </a:p>
          </p:txBody>
        </p:sp>
        <p:sp>
          <p:nvSpPr>
            <p:cNvPr id="106" name="C/Behavior/r"/>
            <p:cNvSpPr txBox="1"/>
            <p:nvPr/>
          </p:nvSpPr>
          <p:spPr>
            <a:xfrm>
              <a:off x="9912096" y="1399032"/>
              <a:ext cx="4352544" cy="338328"/>
            </a:xfrm>
            <a:prstGeom prst="rect">
              <a:avLst/>
            </a:prstGeom>
            <a:noFill/>
          </p:spPr>
          <p:txBody>
            <a:bodyPr wrap="none" lIns="0" rIns="0" tIns="0" bIns="0" anchor="ctr">
              <a:noAutofit/>
            </a:bodyPr>
            <a:lstStyle/>
            <a:p>
              <a:pPr algn="ctr">
                <a:lnSpc>
                  <a:spcPct val="103000"/>
                </a:lnSpc>
                <a:spcBef>
                  <a:spcPts val="0"/>
                </a:spcBef>
                <a:spcAft>
                  <a:spcPts val="0"/>
                </a:spcAft>
              </a:pPr>
              <a:r>
                <a:rPr sz="2500" b="0" i="0" lang="en-US" dirty="0">
                  <a:solidFill>
                    <a:srgbClr val="203346"/>
                  </a:solidFill>
                  <a:latin typeface="Times New Roman"/>
                  <a:ea typeface="Times New Roman"/>
                  <a:cs typeface="Times New Roman"/>
                </a:rPr>
                <a:t>rₖ = Pr(Y₂ ≠ Y₁ | Aₖ)</a:t>
              </a:r>
            </a:p>
          </p:txBody>
        </p:sp>
        <p:sp>
          <p:nvSpPr>
            <p:cNvPr id="107" name="C/Behavior/Drift"/>
            <p:cNvSpPr txBox="1"/>
            <p:nvPr/>
          </p:nvSpPr>
          <p:spPr>
            <a:xfrm>
              <a:off x="9921240" y="1847088"/>
              <a:ext cx="1874519" cy="274320"/>
            </a:xfrm>
            <a:prstGeom prst="rect">
              <a:avLst/>
            </a:prstGeom>
            <a:noFill/>
          </p:spPr>
          <p:txBody>
            <a:bodyPr wrap="none" lIns="0" rIns="0" tIns="0" bIns="0" anchor="ctr">
              <a:noAutofit/>
            </a:bodyPr>
            <a:lstStyle/>
            <a:p>
              <a:pPr algn="l">
                <a:lnSpc>
                  <a:spcPct val="103000"/>
                </a:lnSpc>
                <a:spcBef>
                  <a:spcPts val="0"/>
                </a:spcBef>
                <a:spcAft>
                  <a:spcPts val="0"/>
                </a:spcAft>
              </a:pPr>
              <a:r>
                <a:rPr sz="2050" b="1" i="0" lang="en-US" dirty="0">
                  <a:solidFill>
                    <a:srgbClr val="66737D"/>
                  </a:solidFill>
                  <a:latin typeface="Arial"/>
                  <a:ea typeface="Arial"/>
                  <a:cs typeface="Arial"/>
                </a:rPr>
                <a:t>Drift</a:t>
              </a:r>
            </a:p>
          </p:txBody>
        </p:sp>
        <p:sp>
          <p:nvSpPr>
            <p:cNvPr id="108" name="C/Behavior/Drift/Formula"/>
            <p:cNvSpPr txBox="1"/>
            <p:nvPr/>
          </p:nvSpPr>
          <p:spPr>
            <a:xfrm>
              <a:off x="12006072" y="1824228"/>
              <a:ext cx="2249424" cy="329184"/>
            </a:xfrm>
            <a:prstGeom prst="rect">
              <a:avLst/>
            </a:prstGeom>
            <a:noFill/>
          </p:spPr>
          <p:txBody>
            <a:bodyPr wrap="none" lIns="0" rIns="0" tIns="0" bIns="0" anchor="ctr">
              <a:noAutofit/>
            </a:bodyPr>
            <a:lstStyle/>
            <a:p>
              <a:pPr algn="r">
                <a:lnSpc>
                  <a:spcPct val="103000"/>
                </a:lnSpc>
                <a:spcBef>
                  <a:spcPts val="0"/>
                </a:spcBef>
                <a:spcAft>
                  <a:spcPts val="0"/>
                </a:spcAft>
              </a:pPr>
              <a:r>
                <a:rPr sz="2400" b="0" i="0" lang="en-US" dirty="0">
                  <a:solidFill>
                    <a:srgbClr val="66737D"/>
                  </a:solidFill>
                  <a:latin typeface="Times New Roman"/>
                  <a:ea typeface="Times New Roman"/>
                  <a:cs typeface="Times New Roman"/>
                </a:rPr>
                <a:t>D = r₀</a:t>
              </a:r>
            </a:p>
          </p:txBody>
        </p:sp>
        <p:sp>
          <p:nvSpPr>
            <p:cNvPr id="109" name="C/Behavior/Disagreement"/>
            <p:cNvSpPr txBox="1"/>
            <p:nvPr/>
          </p:nvSpPr>
          <p:spPr>
            <a:xfrm>
              <a:off x="9921240" y="2203704"/>
              <a:ext cx="1874519" cy="274320"/>
            </a:xfrm>
            <a:prstGeom prst="rect">
              <a:avLst/>
            </a:prstGeom>
            <a:noFill/>
          </p:spPr>
          <p:txBody>
            <a:bodyPr wrap="none" lIns="0" rIns="0" tIns="0" bIns="0" anchor="ctr">
              <a:noAutofit/>
            </a:bodyPr>
            <a:lstStyle/>
            <a:p>
              <a:pPr algn="l">
                <a:lnSpc>
                  <a:spcPct val="103000"/>
                </a:lnSpc>
                <a:spcBef>
                  <a:spcPts val="0"/>
                </a:spcBef>
                <a:spcAft>
                  <a:spcPts val="0"/>
                </a:spcAft>
              </a:pPr>
              <a:r>
                <a:rPr sz="2050" b="1" i="0" lang="en-US" dirty="0">
                  <a:solidFill>
                    <a:srgbClr val="2768A5"/>
                  </a:solidFill>
                  <a:latin typeface="Arial"/>
                  <a:ea typeface="Arial"/>
                  <a:cs typeface="Arial"/>
                </a:rPr>
                <a:t>Disagreement</a:t>
              </a:r>
            </a:p>
          </p:txBody>
        </p:sp>
        <p:sp>
          <p:nvSpPr>
            <p:cNvPr id="110" name="C/Behavior/Disagreement/Formula"/>
            <p:cNvSpPr txBox="1"/>
            <p:nvPr/>
          </p:nvSpPr>
          <p:spPr>
            <a:xfrm>
              <a:off x="12006072" y="2180844"/>
              <a:ext cx="2249424" cy="329184"/>
            </a:xfrm>
            <a:prstGeom prst="rect">
              <a:avLst/>
            </a:prstGeom>
            <a:noFill/>
          </p:spPr>
          <p:txBody>
            <a:bodyPr wrap="none" lIns="0" rIns="0" tIns="0" bIns="0" anchor="ctr">
              <a:noAutofit/>
            </a:bodyPr>
            <a:lstStyle/>
            <a:p>
              <a:pPr algn="r">
                <a:lnSpc>
                  <a:spcPct val="103000"/>
                </a:lnSpc>
                <a:spcBef>
                  <a:spcPts val="0"/>
                </a:spcBef>
                <a:spcAft>
                  <a:spcPts val="0"/>
                </a:spcAft>
              </a:pPr>
              <a:r>
                <a:rPr sz="2400" b="0" i="0" lang="en-US" dirty="0">
                  <a:solidFill>
                    <a:srgbClr val="2768A5"/>
                  </a:solidFill>
                  <a:latin typeface="Times New Roman"/>
                  <a:ea typeface="Times New Roman"/>
                  <a:cs typeface="Times New Roman"/>
                </a:rPr>
                <a:t>G = r₁ − r₀</a:t>
              </a:r>
            </a:p>
          </p:txBody>
        </p:sp>
        <p:sp>
          <p:nvSpPr>
            <p:cNvPr id="111" name="C/Behavior/Expert label"/>
            <p:cNvSpPr txBox="1"/>
            <p:nvPr/>
          </p:nvSpPr>
          <p:spPr>
            <a:xfrm>
              <a:off x="9921240" y="2560320"/>
              <a:ext cx="1874519" cy="274320"/>
            </a:xfrm>
            <a:prstGeom prst="rect">
              <a:avLst/>
            </a:prstGeom>
            <a:noFill/>
          </p:spPr>
          <p:txBody>
            <a:bodyPr wrap="none" lIns="0" rIns="0" tIns="0" bIns="0" anchor="ctr">
              <a:noAutofit/>
            </a:bodyPr>
            <a:lstStyle/>
            <a:p>
              <a:pPr algn="l">
                <a:lnSpc>
                  <a:spcPct val="103000"/>
                </a:lnSpc>
                <a:spcBef>
                  <a:spcPts val="0"/>
                </a:spcBef>
                <a:spcAft>
                  <a:spcPts val="0"/>
                </a:spcAft>
              </a:pPr>
              <a:r>
                <a:rPr sz="2050" b="1" i="0" lang="en-US" dirty="0">
                  <a:solidFill>
                    <a:srgbClr val="B55929"/>
                  </a:solidFill>
                  <a:latin typeface="Arial"/>
                  <a:ea typeface="Arial"/>
                  <a:cs typeface="Arial"/>
                </a:rPr>
                <a:t>Expert label</a:t>
              </a:r>
            </a:p>
          </p:txBody>
        </p:sp>
        <p:sp>
          <p:nvSpPr>
            <p:cNvPr id="112" name="C/Behavior/Expert label/Formula"/>
            <p:cNvSpPr txBox="1"/>
            <p:nvPr/>
          </p:nvSpPr>
          <p:spPr>
            <a:xfrm>
              <a:off x="12006072" y="2537460"/>
              <a:ext cx="2249424" cy="329184"/>
            </a:xfrm>
            <a:prstGeom prst="rect">
              <a:avLst/>
            </a:prstGeom>
            <a:noFill/>
          </p:spPr>
          <p:txBody>
            <a:bodyPr wrap="none" lIns="0" rIns="0" tIns="0" bIns="0" anchor="ctr">
              <a:noAutofit/>
            </a:bodyPr>
            <a:lstStyle/>
            <a:p>
              <a:pPr algn="r">
                <a:lnSpc>
                  <a:spcPct val="103000"/>
                </a:lnSpc>
                <a:spcBef>
                  <a:spcPts val="0"/>
                </a:spcBef>
                <a:spcAft>
                  <a:spcPts val="0"/>
                </a:spcAft>
              </a:pPr>
              <a:r>
                <a:rPr sz="2400" b="0" i="0" lang="en-US" dirty="0">
                  <a:solidFill>
                    <a:srgbClr val="B55929"/>
                  </a:solidFill>
                  <a:latin typeface="Times New Roman"/>
                  <a:ea typeface="Times New Roman"/>
                  <a:cs typeface="Times New Roman"/>
                </a:rPr>
                <a:t>P = r₃ − r₁</a:t>
              </a:r>
            </a:p>
          </p:txBody>
        </p:sp>
        <p:sp>
          <p:nvSpPr>
            <p:cNvPr id="113" name="C/Accuracy"/>
            <p:cNvSpPr/>
            <p:nvPr/>
          </p:nvSpPr>
          <p:spPr>
            <a:xfrm>
              <a:off x="9710928" y="3310128"/>
              <a:ext cx="4754880" cy="1124712"/>
            </a:xfrm>
            <a:prstGeom prst="roundRect">
              <a:avLst>
                <a:gd name="adj" fmla="val 8130"/>
              </a:avLst>
            </a:prstGeom>
            <a:solidFill>
              <a:srgbClr val="FFFFFF"/>
            </a:solidFill>
            <a:ln w="12700">
              <a:solidFill>
                <a:srgbClr val="B9C6CF"/>
              </a:solidFill>
            </a:ln>
            <a:effectLst/>
          </p:spPr>
          <p:txBody>
            <a:bodyPr rtlCol="0" anchor="ctr"/>
            <a:lstStyle/>
            <a:p>
              <a:pPr algn="ctr"/>
            </a:p>
          </p:txBody>
        </p:sp>
        <p:sp>
          <p:nvSpPr>
            <p:cNvPr id="114" name="C/Accuracy/Title"/>
            <p:cNvSpPr txBox="1"/>
            <p:nvPr/>
          </p:nvSpPr>
          <p:spPr>
            <a:xfrm>
              <a:off x="9912096" y="3438144"/>
              <a:ext cx="4352544" cy="274320"/>
            </a:xfrm>
            <a:prstGeom prst="rect">
              <a:avLst/>
            </a:prstGeom>
            <a:noFill/>
          </p:spPr>
          <p:txBody>
            <a:bodyPr wrap="none" lIns="0" rIns="0" tIns="0" bIns="0" anchor="ctr">
              <a:noAutofit/>
            </a:bodyPr>
            <a:lstStyle/>
            <a:p>
              <a:pPr algn="l">
                <a:lnSpc>
                  <a:spcPct val="103000"/>
                </a:lnSpc>
                <a:spcBef>
                  <a:spcPts val="0"/>
                </a:spcBef>
                <a:spcAft>
                  <a:spcPts val="0"/>
                </a:spcAft>
              </a:pPr>
              <a:r>
                <a:rPr sz="2100" b="1" i="0" lang="en-US" dirty="0">
                  <a:solidFill>
                    <a:srgbClr val="203346"/>
                  </a:solidFill>
                  <a:latin typeface="Arial"/>
                  <a:ea typeface="Arial"/>
                  <a:cs typeface="Arial"/>
                </a:rPr>
                <a:t>Accuracy and transition direction</a:t>
              </a:r>
            </a:p>
          </p:txBody>
        </p:sp>
        <p:sp>
          <p:nvSpPr>
            <p:cNvPr id="115" name="C/Accuracy/Formula"/>
            <p:cNvSpPr txBox="1"/>
            <p:nvPr/>
          </p:nvSpPr>
          <p:spPr>
            <a:xfrm>
              <a:off x="9912096" y="3785615"/>
              <a:ext cx="4352544" cy="310896"/>
            </a:xfrm>
            <a:prstGeom prst="rect">
              <a:avLst/>
            </a:prstGeom>
            <a:noFill/>
          </p:spPr>
          <p:txBody>
            <a:bodyPr wrap="none" lIns="0" rIns="0" tIns="0" bIns="0" anchor="ctr">
              <a:noAutofit/>
            </a:bodyPr>
            <a:lstStyle/>
            <a:p>
              <a:pPr algn="ctr">
                <a:lnSpc>
                  <a:spcPct val="103000"/>
                </a:lnSpc>
                <a:spcBef>
                  <a:spcPts val="0"/>
                </a:spcBef>
                <a:spcAft>
                  <a:spcPts val="0"/>
                </a:spcAft>
              </a:pPr>
              <a:r>
                <a:rPr sz="2350" b="0" i="0" lang="en-US" dirty="0">
                  <a:solidFill>
                    <a:srgbClr val="203346"/>
                  </a:solidFill>
                  <a:latin typeface="Times New Roman"/>
                  <a:ea typeface="Times New Roman"/>
                  <a:cs typeface="Times New Roman"/>
                </a:rPr>
                <a:t>ΔAcc(Aₖ) = Acc₂(Aₖ) − Acc₁</a:t>
              </a:r>
            </a:p>
          </p:txBody>
        </p:sp>
        <p:sp>
          <p:nvSpPr>
            <p:cNvPr id="116" name="C/Accuracy/Directions"/>
            <p:cNvSpPr txBox="1"/>
            <p:nvPr/>
          </p:nvSpPr>
          <p:spPr>
            <a:xfrm>
              <a:off x="9912096" y="4169663"/>
              <a:ext cx="4352544" cy="210312"/>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B55929"/>
                  </a:solidFill>
                  <a:latin typeface="Arial"/>
                  <a:ea typeface="Arial"/>
                  <a:cs typeface="Arial"/>
                </a:rPr>
                <a:t>Correct → Wrong</a:t>
              </a:r>
              <a:r>
                <a:rPr sz="1850" b="0" i="0" lang="en-US" dirty="0">
                  <a:solidFill>
                    <a:srgbClr val="526270"/>
                  </a:solidFill>
                  <a:latin typeface="Arial"/>
                  <a:ea typeface="Arial"/>
                  <a:cs typeface="Arial"/>
                </a:rPr>
                <a:t>     |     </a:t>
              </a:r>
              <a:r>
                <a:rPr sz="1850" b="0" i="0" lang="en-US" dirty="0">
                  <a:solidFill>
                    <a:srgbClr val="187D70"/>
                  </a:solidFill>
                  <a:latin typeface="Arial"/>
                  <a:ea typeface="Arial"/>
                  <a:cs typeface="Arial"/>
                </a:rPr>
                <a:t>Wrong → Correct</a:t>
              </a:r>
            </a:p>
          </p:txBody>
        </p:sp>
        <p:sp>
          <p:nvSpPr>
            <p:cNvPr id="117" name="C/Mismatch"/>
            <p:cNvSpPr/>
            <p:nvPr/>
          </p:nvSpPr>
          <p:spPr>
            <a:xfrm>
              <a:off x="9710928" y="4626864"/>
              <a:ext cx="4754880" cy="1353312"/>
            </a:xfrm>
            <a:prstGeom prst="roundRect">
              <a:avLst>
                <a:gd name="adj" fmla="val 6756"/>
              </a:avLst>
            </a:prstGeom>
            <a:solidFill>
              <a:srgbClr val="F4F0F8"/>
            </a:solidFill>
            <a:ln w="12700">
              <a:solidFill>
                <a:srgbClr val="B9AACC"/>
              </a:solidFill>
              <a:prstDash val="dash"/>
            </a:ln>
            <a:effectLst/>
          </p:spPr>
          <p:txBody>
            <a:bodyPr rtlCol="0" anchor="ctr"/>
            <a:lstStyle/>
            <a:p>
              <a:pPr algn="ctr"/>
            </a:p>
          </p:txBody>
        </p:sp>
        <p:sp>
          <p:nvSpPr>
            <p:cNvPr id="118" name="C/Mismatch/Title"/>
            <p:cNvSpPr txBox="1"/>
            <p:nvPr/>
          </p:nvSpPr>
          <p:spPr>
            <a:xfrm>
              <a:off x="9912096" y="4745736"/>
              <a:ext cx="4352544" cy="283464"/>
            </a:xfrm>
            <a:prstGeom prst="rect">
              <a:avLst/>
            </a:prstGeom>
            <a:noFill/>
          </p:spPr>
          <p:txBody>
            <a:bodyPr wrap="none" lIns="0" rIns="0" tIns="0" bIns="0" anchor="ctr">
              <a:noAutofit/>
            </a:bodyPr>
            <a:lstStyle/>
            <a:p>
              <a:pPr algn="l">
                <a:lnSpc>
                  <a:spcPct val="103000"/>
                </a:lnSpc>
                <a:spcBef>
                  <a:spcPts val="0"/>
                </a:spcBef>
                <a:spcAft>
                  <a:spcPts val="0"/>
                </a:spcAft>
              </a:pPr>
              <a:r>
                <a:rPr sz="2150" b="1" i="0" lang="en-US" dirty="0">
                  <a:solidFill>
                    <a:srgbClr val="72618C"/>
                  </a:solidFill>
                  <a:latin typeface="Arial"/>
                  <a:ea typeface="Arial"/>
                  <a:cs typeface="Arial"/>
                </a:rPr>
                <a:t>Preference–report mismatch</a:t>
              </a:r>
            </a:p>
          </p:txBody>
        </p:sp>
        <p:sp>
          <p:nvSpPr>
            <p:cNvPr id="119" name="C/Mismatch/Formula"/>
            <p:cNvSpPr txBox="1"/>
            <p:nvPr/>
          </p:nvSpPr>
          <p:spPr>
            <a:xfrm>
              <a:off x="9884664" y="5138928"/>
              <a:ext cx="4398264" cy="310896"/>
            </a:xfrm>
            <a:prstGeom prst="rect">
              <a:avLst/>
            </a:prstGeom>
            <a:noFill/>
          </p:spPr>
          <p:txBody>
            <a:bodyPr wrap="none" lIns="0" rIns="0" tIns="0" bIns="0" anchor="ctr">
              <a:noAutofit/>
            </a:bodyPr>
            <a:lstStyle/>
            <a:p>
              <a:pPr algn="ctr">
                <a:lnSpc>
                  <a:spcPct val="103000"/>
                </a:lnSpc>
                <a:spcBef>
                  <a:spcPts val="0"/>
                </a:spcBef>
                <a:spcAft>
                  <a:spcPts val="0"/>
                </a:spcAft>
              </a:pPr>
              <a:r>
                <a:rPr sz="2300" b="0" i="0" lang="en-US" dirty="0">
                  <a:solidFill>
                    <a:srgbClr val="72618C"/>
                  </a:solidFill>
                  <a:latin typeface="Times New Roman"/>
                  <a:ea typeface="Times New Roman"/>
                  <a:cs typeface="Times New Roman"/>
                </a:rPr>
                <a:t>Y₂ ≠ Y₁  and  sign(ℓ₂) = sign(ℓ₁)</a:t>
              </a:r>
            </a:p>
          </p:txBody>
        </p:sp>
        <p:sp>
          <p:nvSpPr>
            <p:cNvPr id="120" name="C/Mismatch/Caveat"/>
            <p:cNvSpPr txBox="1"/>
            <p:nvPr/>
          </p:nvSpPr>
          <p:spPr>
            <a:xfrm>
              <a:off x="9912096" y="5596128"/>
              <a:ext cx="4352544" cy="210312"/>
            </a:xfrm>
            <a:prstGeom prst="rect">
              <a:avLst/>
            </a:prstGeom>
            <a:noFill/>
          </p:spPr>
          <p:txBody>
            <a:bodyPr wrap="none" lIns="0" rIns="0" tIns="0" bIns="0" anchor="ctr">
              <a:noAutofit/>
            </a:bodyPr>
            <a:lstStyle/>
            <a:p>
              <a:pPr algn="ctr">
                <a:lnSpc>
                  <a:spcPct val="103000"/>
                </a:lnSpc>
                <a:spcBef>
                  <a:spcPts val="0"/>
                </a:spcBef>
                <a:spcAft>
                  <a:spcPts val="0"/>
                </a:spcAft>
              </a:pPr>
              <a:r>
                <a:rPr sz="1850" b="0" i="0" lang="en-US" dirty="0">
                  <a:solidFill>
                    <a:srgbClr val="72618C"/>
                  </a:solidFill>
                  <a:latin typeface="Arial"/>
                  <a:ea typeface="Arial"/>
                  <a:cs typeface="Arial"/>
                </a:rPr>
                <a:t>Auxiliary score; not a latent belief.</a:t>
              </a:r>
            </a:p>
          </p:txBody>
        </p:sp>
      </p:grpSp>
      <p:grpSp>
        <p:nvGrpSpPr>
          <p:cNvPr id="5" name="Connections | Decision path only"/>
          <p:cNvGrpSpPr/>
          <p:nvPr/>
        </p:nvGrpSpPr>
        <p:grpSpPr>
          <a:xfrm>
            <a:off x="713232" y="1362456"/>
            <a:ext cx="4279392" cy="3200400"/>
            <a:chOff x="713232" y="1362456"/>
            <a:chExt cx="4279392" cy="3200400"/>
          </a:xfrm>
        </p:grpSpPr>
        <p:cxnSp>
          <p:nvCxnSpPr>
            <p:cNvPr id="67" name="Y1/ToGutter"/>
            <p:cNvCxnSpPr/>
            <p:nvPr/>
          </p:nvCxnSpPr>
          <p:spPr>
            <a:xfrm flipH="1">
              <a:off x="713232" y="3319272"/>
              <a:ext cx="100584" cy="0"/>
            </a:xfrm>
            <a:prstGeom prst="line">
              <a:avLst/>
            </a:prstGeom>
            <a:ln w="20320" cap="rnd">
              <a:solidFill>
                <a:srgbClr val="2768A5"/>
              </a:solidFill>
            </a:ln>
          </p:spPr>
        </p:cxnSp>
        <p:sp>
          <p:nvSpPr>
            <p:cNvPr id="68" name="Y1/ReusedPath"/>
            <p:cNvSpPr/>
            <p:nvPr/>
          </p:nvSpPr>
          <p:spPr>
            <a:xfrm>
              <a:off x="713232" y="1362456"/>
              <a:ext cx="4251960" cy="3200400"/>
            </a:xfrm>
            <a:custGeom>
              <a:avLst/>
              <a:gdLst/>
              <a:ahLst/>
              <a:cxnLst/>
              <a:rect l="l" t="t" r="r" b="b"/>
              <a:pathLst>
                <a:path w="4251960" h="3200400">
                  <a:moveTo>
                    <a:pt x="0" y="1956816"/>
                  </a:moveTo>
                  <a:lnTo>
                    <a:pt x="0" y="3200400"/>
                  </a:lnTo>
                  <a:lnTo>
                    <a:pt x="3831336" y="3200400"/>
                  </a:lnTo>
                  <a:lnTo>
                    <a:pt x="3831336" y="0"/>
                  </a:lnTo>
                  <a:lnTo>
                    <a:pt x="4251960" y="0"/>
                  </a:lnTo>
                </a:path>
              </a:pathLst>
            </a:custGeom>
            <a:noFill/>
            <a:ln w="19685" cap="rnd">
              <a:solidFill>
                <a:srgbClr val="2768A5"/>
              </a:solidFill>
              <a:round/>
            </a:ln>
            <a:effectLst/>
          </p:spPr>
          <p:txBody>
            <a:bodyPr rtlCol="0" anchor="ctr"/>
            <a:lstStyle/>
            <a:p>
              <a:pPr algn="ctr"/>
            </a:p>
          </p:txBody>
        </p:sp>
        <p:cxnSp>
          <p:nvCxnSpPr>
            <p:cNvPr id="69" name="Y1/ToRevisionContext"/>
            <p:cNvCxnSpPr/>
            <p:nvPr/>
          </p:nvCxnSpPr>
          <p:spPr>
            <a:xfrm>
              <a:off x="4919472" y="1362456"/>
              <a:ext cx="73152" cy="0"/>
            </a:xfrm>
            <a:prstGeom prst="line">
              <a:avLst/>
            </a:prstGeom>
            <a:ln w="19685" cap="rnd">
              <a:solidFill>
                <a:srgbClr val="2768A5"/>
              </a:solidFill>
              <a:tailEnd type="triangle" w="sm" len="sm"/>
            </a:ln>
          </p:spPr>
        </p:cxnSp>
      </p:grpSp>
      <p:sp>
        <p:nvSpPr>
          <p:cNvPr id="121" name="Legend/Background"/>
          <p:cNvSpPr/>
          <p:nvPr/>
        </p:nvSpPr>
        <p:spPr>
          <a:xfrm>
            <a:off x="164592" y="6181344"/>
            <a:ext cx="14301216" cy="347472"/>
          </a:xfrm>
          <a:prstGeom prst="rect">
            <a:avLst/>
          </a:prstGeom>
          <a:solidFill>
            <a:srgbClr val="FFFFFF"/>
          </a:solidFill>
          <a:ln>
            <a:noFill/>
          </a:ln>
          <a:effectLst/>
        </p:spPr>
        <p:txBody>
          <a:bodyPr rtlCol="0" anchor="ctr"/>
          <a:lstStyle/>
          <a:p>
            <a:pPr algn="ctr"/>
          </a:p>
        </p:txBody>
      </p:sp>
      <p:cxnSp>
        <p:nvCxnSpPr>
          <p:cNvPr id="122" name="Legend/DashedSample"/>
          <p:cNvCxnSpPr/>
          <p:nvPr/>
        </p:nvCxnSpPr>
        <p:spPr>
          <a:xfrm>
            <a:off x="320040" y="6355080"/>
            <a:ext cx="466344" cy="0"/>
          </a:xfrm>
          <a:prstGeom prst="line">
            <a:avLst/>
          </a:prstGeom>
          <a:ln w="15240" cap="rnd">
            <a:solidFill>
              <a:srgbClr val="72618C"/>
            </a:solidFill>
            <a:prstDash val="dash"/>
          </a:ln>
        </p:spPr>
      </p:cxnSp>
      <p:sp>
        <p:nvSpPr>
          <p:cNvPr id="123" name="Legend/Text"/>
          <p:cNvSpPr txBox="1"/>
          <p:nvPr/>
        </p:nvSpPr>
        <p:spPr>
          <a:xfrm>
            <a:off x="960120" y="6199632"/>
            <a:ext cx="13267944" cy="292608"/>
          </a:xfrm>
          <a:prstGeom prst="rect">
            <a:avLst/>
          </a:prstGeom>
          <a:noFill/>
        </p:spPr>
        <p:txBody>
          <a:bodyPr wrap="none" lIns="0" rIns="0" tIns="0" bIns="0" anchor="ctr">
            <a:noAutofit/>
          </a:bodyPr>
          <a:lstStyle/>
          <a:p>
            <a:pPr algn="l">
              <a:lnSpc>
                <a:spcPct val="103000"/>
              </a:lnSpc>
              <a:spcBef>
                <a:spcPts val="0"/>
              </a:spcBef>
              <a:spcAft>
                <a:spcPts val="0"/>
              </a:spcAft>
            </a:pPr>
            <a:r>
              <a:rPr sz="1950" b="0" i="0" lang="en-US" dirty="0">
                <a:solidFill>
                  <a:srgbClr val="526270"/>
                </a:solidFill>
                <a:latin typeface="Arial"/>
                <a:ea typeface="Arial"/>
                <a:cs typeface="Arial"/>
              </a:rPr>
              <a:t>Dashed: auxiliary logs / scores. Teacher-forced scores are available for open-weight models only.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Branch-paired revision audit — editable scientific figures</dc:title>
  <dc:subject>Main figure and auxiliary-diagnostics companion</dc:subject>
  <dc:creator>Yupeng Tang and Mingfeng Lin</dc:creator>
  <cp:keywords>NeurIPS; revision; prestige; fully editable; vector</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